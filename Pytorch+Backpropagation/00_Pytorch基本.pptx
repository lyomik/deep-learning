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1" r:id="rId5"/>
    <p:sldId id="262" r:id="rId6"/>
    <p:sldId id="260" r:id="rId7"/>
    <p:sldId id="264" r:id="rId8"/>
    <p:sldId id="263" r:id="rId9"/>
    <p:sldId id="265" r:id="rId10"/>
    <p:sldId id="266" r:id="rId11"/>
    <p:sldId id="278" r:id="rId12"/>
    <p:sldId id="277" r:id="rId13"/>
    <p:sldId id="267" r:id="rId14"/>
    <p:sldId id="274" r:id="rId15"/>
    <p:sldId id="270" r:id="rId16"/>
    <p:sldId id="271" r:id="rId17"/>
    <p:sldId id="272" r:id="rId18"/>
    <p:sldId id="273" r:id="rId19"/>
    <p:sldId id="275" r:id="rId20"/>
    <p:sldId id="276" r:id="rId21"/>
    <p:sldId id="268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4A8A8"/>
    <a:srgbClr val="1E1E1E"/>
    <a:srgbClr val="FFFFFF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F5B99-05F2-4F0F-A776-B321E78B4BAD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08232-B7DF-4893-B3A1-B94CDF8C8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935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08232-B7DF-4893-B3A1-B94CDF8C882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409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65327-F9B0-42E3-8B40-35DB3A01A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713E16-2F11-42CA-B00E-9E6A7DF5E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ACAF5D-1F18-4339-AD56-B0D5A90D8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045AB4-1C4D-40D7-8964-1CF24F41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563E06-2314-4931-9E27-B9002621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28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FFD5BD-7605-435E-B3FF-4589868E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0E3418-9B83-41B7-AC2F-22085CCDD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060C95-60FC-49D3-A91D-8C14722C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DB688E-F5F1-4082-AF62-F890B552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3595EC-DA0A-4C76-BCF1-F03A0916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91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6A5BFB-09FE-42B3-9EBA-29C76AF0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DC23F6-AA06-4FFF-8E30-AFF77ED4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1F42D2-A5E5-4A84-9E33-3568FF949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60A4F1-0375-4444-B42B-DD6D42D3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8347B9-EE2B-42CD-A558-CDC429AE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69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261060-3946-49A1-994A-43B13B5B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808F51-66CD-4A5A-90B3-3BF936C27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08BFE9-3998-4C0F-BED3-CA2CBDE77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D3A65B-7BC5-426E-A2EE-306DC480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CD17FD-6436-4852-936B-9E489811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EC18A9-1C60-4B02-B5BE-394D2645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34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6D6329-703F-405F-BE71-F4498135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CAE276-EFDC-43B8-ADD7-F2275490B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E77D2C-6360-4124-9E56-E774EF21B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131DC5D-1786-4762-B4A1-30EFB8765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87B4EE8-39DF-4BA2-825E-BE60F789E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0D540D3-36A2-46A7-951A-46477CE6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16DF1D9-8786-499E-A948-2FCE305F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E947C65-90C7-4CBA-B6E0-A9BDB47E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514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36C9C6-C54B-49C6-A0B3-DD5FFC22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F11A2C-D6B4-4505-9790-2EB98832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2E725D-B53F-4C55-98CB-42F66894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9A26CF-80D2-4D57-8557-29ADE97F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285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C73905B-F47A-4838-A340-43A959DE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5D3595E-2EE0-41C9-8B73-EEFD4BB6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ACB54A-0018-43B8-A312-03E4E24A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39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5822ED-AB74-41EB-9933-B975A598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9339AC-0940-4B61-B206-93ED352B5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56ABDE-81AE-478E-8AA9-1E259F973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CA530B-9B54-4B3A-9D05-F26B27C3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F686F3-CB86-4471-9D6D-854ED92E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1CCE26-FFA3-4B01-979F-926A63F5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54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3321D3-5626-4962-B37D-8C50FAE3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4593D99-86FA-4EF2-98CC-D3730EF78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0DD805-2455-4FB1-A43C-ADEA210D2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9FB58F-D6CC-41E6-A418-B9A553FA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5E276B-26FA-4E4C-9CA5-EED1BB75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425314-4D00-4052-9D8A-FBE0D287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1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04FB38-C9A4-4289-9094-4061E14F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36A324D-C1C4-47CD-B47A-5EEEB52DC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751654-1455-4783-AE92-E66A183C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0312BD-BFCD-471C-964D-24AE3898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30FD4A-F141-4AE7-92BD-ACF23298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09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D788437-514A-49A6-80A6-9D9A36AA9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9E42535-416F-48C9-AA8A-C35BA2A9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ED594F-53B0-4C66-8243-6CFFB540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5A144D-8BA6-4EE4-8DB0-AB7CD31DD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92380-D2B2-4981-AC2D-5B1689FA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022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8BDD90-9C7C-4F86-ADA3-5482B1FCD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78D15B-24E6-432D-A4CE-FDF6B97BF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45D92-A2ED-4806-B909-4859F9189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4DC6E-4BD6-43BD-8F69-1A8F3B6B0F82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937EEA-01FE-4ACE-898B-8BDC291BE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F0944F-EF72-42D7-90C7-FB156F6F4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B7789-743C-49D9-A346-AE6A46FB0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06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ytorch.org/get-started/locally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rLdor4" TargetMode="External"/><Relationship Id="rId2" Type="http://schemas.openxmlformats.org/officeDocument/2006/relationships/hyperlink" Target="https://www.youtube.com/watch?v=Jy4wM2X21u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27385D6-3FFE-4912-B576-7C1D24065A1E}"/>
              </a:ext>
            </a:extLst>
          </p:cNvPr>
          <p:cNvSpPr txBox="1"/>
          <p:nvPr/>
        </p:nvSpPr>
        <p:spPr>
          <a:xfrm>
            <a:off x="0" y="2659559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zh-TW" altLang="en-US" sz="8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218582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75743AD-6E1D-4AC1-AC2B-B682BDB95177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166FA0B-9FD1-4AD5-BD74-D97D19E5A95A}"/>
              </a:ext>
            </a:extLst>
          </p:cNvPr>
          <p:cNvSpPr txBox="1"/>
          <p:nvPr/>
        </p:nvSpPr>
        <p:spPr>
          <a:xfrm>
            <a:off x="457200" y="1111624"/>
            <a:ext cx="4867038" cy="260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簡介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預訓練模型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訓練流程介紹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</a:p>
        </p:txBody>
      </p:sp>
    </p:spTree>
    <p:extLst>
      <p:ext uri="{BB962C8B-B14F-4D97-AF65-F5344CB8AC3E}">
        <p14:creationId xmlns:p14="http://schemas.microsoft.com/office/powerpoint/2010/main" val="343812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le:PyTorch logo black.svg - 维基百科，自由的百科全书">
            <a:extLst>
              <a:ext uri="{FF2B5EF4-FFF2-40B4-BE49-F238E27FC236}">
                <a16:creationId xmlns:a16="http://schemas.microsoft.com/office/drawing/2014/main" id="{6583675B-1F76-469D-A055-2500193EF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199" y="481941"/>
            <a:ext cx="3425602" cy="84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C1E9BA-7E4E-4CA8-A27B-F933DBF39E73}"/>
              </a:ext>
            </a:extLst>
          </p:cNvPr>
          <p:cNvSpPr txBox="1"/>
          <p:nvPr/>
        </p:nvSpPr>
        <p:spPr>
          <a:xfrm>
            <a:off x="621437" y="1509203"/>
            <a:ext cx="9197266" cy="113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前身為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Torch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2017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FB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研究團隊釋出開源的深度學習框架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D96F20-6231-4C4D-857F-E0CD68CC2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37" y="3107183"/>
            <a:ext cx="3226855" cy="300023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EB49599-AA2B-40EF-9EAA-E5F687E4D1E4}"/>
              </a:ext>
            </a:extLst>
          </p:cNvPr>
          <p:cNvSpPr/>
          <p:nvPr/>
        </p:nvSpPr>
        <p:spPr>
          <a:xfrm>
            <a:off x="3848292" y="3532915"/>
            <a:ext cx="6664581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核心開發者親授！</a:t>
            </a:r>
            <a:r>
              <a:rPr lang="en-US" altLang="zh-TW" sz="2800" u="sng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zh-TW" altLang="en-US" sz="2800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深度學習攻略</a:t>
            </a:r>
            <a:endParaRPr lang="en-US" altLang="zh-TW" sz="2800" u="sng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譯者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黃駿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出版社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旗標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出版日期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:2021/07/23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57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圓角 4">
            <a:extLst>
              <a:ext uri="{FF2B5EF4-FFF2-40B4-BE49-F238E27FC236}">
                <a16:creationId xmlns:a16="http://schemas.microsoft.com/office/drawing/2014/main" id="{9F8C7D6D-CFB0-4243-AAA3-DB3A1E13047C}"/>
              </a:ext>
            </a:extLst>
          </p:cNvPr>
          <p:cNvSpPr/>
          <p:nvPr/>
        </p:nvSpPr>
        <p:spPr>
          <a:xfrm>
            <a:off x="6167021" y="513489"/>
            <a:ext cx="5249663" cy="25745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6E0B361-1509-4880-8264-253D719093F6}"/>
              </a:ext>
            </a:extLst>
          </p:cNvPr>
          <p:cNvSpPr/>
          <p:nvPr/>
        </p:nvSpPr>
        <p:spPr>
          <a:xfrm>
            <a:off x="562021" y="513489"/>
            <a:ext cx="4864406" cy="25745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0" name="Picture 2" descr="File:PyTorch logo black.svg - 维基百科，自由的百科全书">
            <a:extLst>
              <a:ext uri="{FF2B5EF4-FFF2-40B4-BE49-F238E27FC236}">
                <a16:creationId xmlns:a16="http://schemas.microsoft.com/office/drawing/2014/main" id="{9FED1F9E-D88A-43F4-B314-B50971432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272" y="1425820"/>
            <a:ext cx="3770051" cy="93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ensorFlow - 维基百科，自由的百科全书">
            <a:extLst>
              <a:ext uri="{FF2B5EF4-FFF2-40B4-BE49-F238E27FC236}">
                <a16:creationId xmlns:a16="http://schemas.microsoft.com/office/drawing/2014/main" id="{822B7EA1-B72B-4317-93E8-45AA9F242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532" y="235262"/>
            <a:ext cx="4864406" cy="311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53C6A54-A1F5-4A9C-A00B-F698F19398DE}"/>
              </a:ext>
            </a:extLst>
          </p:cNvPr>
          <p:cNvSpPr txBox="1"/>
          <p:nvPr/>
        </p:nvSpPr>
        <p:spPr>
          <a:xfrm>
            <a:off x="639201" y="3482881"/>
            <a:ext cx="4993418" cy="1422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</a:t>
            </a:r>
            <a:r>
              <a: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彈性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，很多工具需要自己定義，較難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的程式在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GitHub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比較多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要支援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的安裝</a:t>
            </a:r>
            <a:r>
              <a:rPr lang="zh-TW" alt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超方便</a:t>
            </a:r>
            <a:endParaRPr lang="en-US" altLang="zh-TW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0B5CC6-6480-48E9-942F-B220C01A011E}"/>
              </a:ext>
            </a:extLst>
          </p:cNvPr>
          <p:cNvSpPr txBox="1"/>
          <p:nvPr/>
        </p:nvSpPr>
        <p:spPr>
          <a:xfrm>
            <a:off x="6167021" y="3479364"/>
            <a:ext cx="5917004" cy="1422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</a:t>
            </a:r>
            <a:r>
              <a: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容易上手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，很多功能都套裝好，但比較不彈性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自然語言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GitHub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TensorFlow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比較多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要支援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有時候安裝會有問題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34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F1667AC-9BF7-4BCF-968C-C1C95D9A10AA}"/>
              </a:ext>
            </a:extLst>
          </p:cNvPr>
          <p:cNvSpPr txBox="1"/>
          <p:nvPr/>
        </p:nvSpPr>
        <p:spPr>
          <a:xfrm>
            <a:off x="609161" y="656948"/>
            <a:ext cx="57518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安裝</a:t>
            </a:r>
            <a:r>
              <a:rPr lang="en-US" altLang="zh-TW" sz="3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(G101</a:t>
            </a:r>
            <a:r>
              <a:rPr lang="zh-CN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預設裝好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DC205C-A263-4D23-BFD3-6BAF1B179BEF}"/>
              </a:ext>
            </a:extLst>
          </p:cNvPr>
          <p:cNvSpPr/>
          <p:nvPr/>
        </p:nvSpPr>
        <p:spPr>
          <a:xfrm>
            <a:off x="1050960" y="139365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2"/>
              </a:rPr>
              <a:t>https://pytorch.org/get-started/locally/</a:t>
            </a:r>
            <a:r>
              <a:rPr lang="en-MY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A33DA43-689B-43F0-94B8-C56840845B05}"/>
              </a:ext>
            </a:extLst>
          </p:cNvPr>
          <p:cNvSpPr txBox="1"/>
          <p:nvPr/>
        </p:nvSpPr>
        <p:spPr>
          <a:xfrm>
            <a:off x="609161" y="3030656"/>
            <a:ext cx="7463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載入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torch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，看看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torch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能不能抓到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EAB118E-C5D5-4A68-8139-87698E22E349}"/>
              </a:ext>
            </a:extLst>
          </p:cNvPr>
          <p:cNvSpPr txBox="1"/>
          <p:nvPr/>
        </p:nvSpPr>
        <p:spPr>
          <a:xfrm>
            <a:off x="1067790" y="5683041"/>
            <a:ext cx="435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如果是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看看是不是沒切換到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gpu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mode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9D355B-9DF7-22A3-0E28-7D691D445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60" y="3615431"/>
            <a:ext cx="4928277" cy="206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1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1D97D5-528B-45A3-8237-B1EEB17B1FD8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預訓練模型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5A8F24B-92E1-460E-98BC-767825492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56" y="1601725"/>
            <a:ext cx="3439005" cy="464884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50156AD-FDED-401E-B7E8-607D4F056CED}"/>
              </a:ext>
            </a:extLst>
          </p:cNvPr>
          <p:cNvSpPr txBox="1"/>
          <p:nvPr/>
        </p:nvSpPr>
        <p:spPr>
          <a:xfrm>
            <a:off x="471801" y="1127465"/>
            <a:ext cx="338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列出有哪些可用的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pretrain model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9D5D8E-A543-4B0F-962A-D1646D0760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227"/>
          <a:stretch/>
        </p:blipFill>
        <p:spPr>
          <a:xfrm>
            <a:off x="4378620" y="1601725"/>
            <a:ext cx="7449590" cy="344966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91FCB5E-F5FF-4C0D-81F6-C512B18AF530}"/>
              </a:ext>
            </a:extLst>
          </p:cNvPr>
          <p:cNvSpPr txBox="1"/>
          <p:nvPr/>
        </p:nvSpPr>
        <p:spPr>
          <a:xfrm>
            <a:off x="6456626" y="1127465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載入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順便載入他的預訓練權重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5EFBA8-B1F9-4427-803D-B8E9F9F34D9D}"/>
              </a:ext>
            </a:extLst>
          </p:cNvPr>
          <p:cNvSpPr/>
          <p:nvPr/>
        </p:nvSpPr>
        <p:spPr>
          <a:xfrm>
            <a:off x="958788" y="1601725"/>
            <a:ext cx="2760956" cy="5644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CAFEFE-F81A-4902-A812-1A1BE30059BE}"/>
              </a:ext>
            </a:extLst>
          </p:cNvPr>
          <p:cNvSpPr/>
          <p:nvPr/>
        </p:nvSpPr>
        <p:spPr>
          <a:xfrm>
            <a:off x="4910830" y="1601726"/>
            <a:ext cx="3585099" cy="5952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7A9EBD5-9D7C-4AC8-9620-0A798381E3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978"/>
          <a:stretch/>
        </p:blipFill>
        <p:spPr>
          <a:xfrm>
            <a:off x="4378620" y="5431310"/>
            <a:ext cx="7449590" cy="81926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A671986-5AC2-4A28-8688-94357C37764B}"/>
              </a:ext>
            </a:extLst>
          </p:cNvPr>
          <p:cNvSpPr txBox="1"/>
          <p:nvPr/>
        </p:nvSpPr>
        <p:spPr>
          <a:xfrm rot="5400000">
            <a:off x="7931733" y="505668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B15F35-F77C-45DC-9342-9D116CC16125}"/>
              </a:ext>
            </a:extLst>
          </p:cNvPr>
          <p:cNvSpPr/>
          <p:nvPr/>
        </p:nvSpPr>
        <p:spPr>
          <a:xfrm>
            <a:off x="7335913" y="5792950"/>
            <a:ext cx="1319815" cy="217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25B507F-EAEC-41D7-AED7-A8BA63452024}"/>
              </a:ext>
            </a:extLst>
          </p:cNvPr>
          <p:cNvSpPr txBox="1"/>
          <p:nvPr/>
        </p:nvSpPr>
        <p:spPr>
          <a:xfrm>
            <a:off x="6853714" y="6065908"/>
            <a:ext cx="2499402" cy="369332"/>
          </a:xfrm>
          <a:prstGeom prst="rect">
            <a:avLst/>
          </a:prstGeom>
          <a:solidFill>
            <a:srgbClr val="383838"/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代表最終分類有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1000</a:t>
            </a:r>
            <a:r>
              <a:rPr lang="zh-TW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B5B816-C8AB-39DD-79AF-D453898C6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97" y="1642164"/>
            <a:ext cx="5496692" cy="5144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FDEC28A-F64D-2989-EC6E-57C5E5A9D024}"/>
              </a:ext>
            </a:extLst>
          </p:cNvPr>
          <p:cNvSpPr/>
          <p:nvPr/>
        </p:nvSpPr>
        <p:spPr>
          <a:xfrm>
            <a:off x="4911647" y="1601725"/>
            <a:ext cx="5496692" cy="5952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83835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6FCAC97-6936-401F-953F-39D96AC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2" y="1077936"/>
            <a:ext cx="10917174" cy="124794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B3BCBE7C-2642-40A2-B785-17E70D6DD5A1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預訓練模型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載入圖片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9723A7B-557D-45D4-95A6-69607FD935B2}"/>
              </a:ext>
            </a:extLst>
          </p:cNvPr>
          <p:cNvSpPr txBox="1"/>
          <p:nvPr/>
        </p:nvSpPr>
        <p:spPr>
          <a:xfrm>
            <a:off x="4760738" y="12970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要先將圖片上傳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8A12E9B-302F-469E-9472-176B9E0BA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930" y="2450235"/>
            <a:ext cx="7102135" cy="399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2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67B8AE6-B331-4DEF-9141-B4B09AE56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14" y="1338817"/>
            <a:ext cx="6764682" cy="283330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2C4013A-0717-41D7-ADB7-F744991798B3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預訓練模型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預處理圖片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87F33E-A7B2-4B66-96B5-EE30C5A44B2E}"/>
              </a:ext>
            </a:extLst>
          </p:cNvPr>
          <p:cNvSpPr/>
          <p:nvPr/>
        </p:nvSpPr>
        <p:spPr>
          <a:xfrm>
            <a:off x="7634796" y="1338817"/>
            <a:ext cx="3915053" cy="283330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2133C83-C2B5-4E90-85F2-E4EA83A06A17}"/>
              </a:ext>
            </a:extLst>
          </p:cNvPr>
          <p:cNvSpPr txBox="1"/>
          <p:nvPr/>
        </p:nvSpPr>
        <p:spPr>
          <a:xfrm>
            <a:off x="8277872" y="1516025"/>
            <a:ext cx="2857779" cy="2121093"/>
          </a:xfrm>
          <a:prstGeom prst="rect">
            <a:avLst/>
          </a:prstGeom>
          <a:solidFill>
            <a:srgbClr val="1E1E1E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轉換尺寸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裁減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轉為張量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正規化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彩色通道平均值及標準差</a:t>
            </a:r>
          </a:p>
        </p:txBody>
      </p:sp>
      <p:sp>
        <p:nvSpPr>
          <p:cNvPr id="25" name="手繪多邊形: 圖案 24">
            <a:extLst>
              <a:ext uri="{FF2B5EF4-FFF2-40B4-BE49-F238E27FC236}">
                <a16:creationId xmlns:a16="http://schemas.microsoft.com/office/drawing/2014/main" id="{F1A13565-F882-4128-9C04-6C88CC734B48}"/>
              </a:ext>
            </a:extLst>
          </p:cNvPr>
          <p:cNvSpPr/>
          <p:nvPr/>
        </p:nvSpPr>
        <p:spPr>
          <a:xfrm>
            <a:off x="6134470" y="1802119"/>
            <a:ext cx="2894120" cy="337399"/>
          </a:xfrm>
          <a:custGeom>
            <a:avLst/>
            <a:gdLst>
              <a:gd name="connsiteX0" fmla="*/ 2894120 w 2894120"/>
              <a:gd name="connsiteY0" fmla="*/ 8926 h 337399"/>
              <a:gd name="connsiteX1" fmla="*/ 2769833 w 2894120"/>
              <a:gd name="connsiteY1" fmla="*/ 8926 h 337399"/>
              <a:gd name="connsiteX2" fmla="*/ 2476870 w 2894120"/>
              <a:gd name="connsiteY2" fmla="*/ 17803 h 337399"/>
              <a:gd name="connsiteX3" fmla="*/ 2450237 w 2894120"/>
              <a:gd name="connsiteY3" fmla="*/ 26681 h 337399"/>
              <a:gd name="connsiteX4" fmla="*/ 2246050 w 2894120"/>
              <a:gd name="connsiteY4" fmla="*/ 44436 h 337399"/>
              <a:gd name="connsiteX5" fmla="*/ 2095130 w 2894120"/>
              <a:gd name="connsiteY5" fmla="*/ 62192 h 337399"/>
              <a:gd name="connsiteX6" fmla="*/ 1793289 w 2894120"/>
              <a:gd name="connsiteY6" fmla="*/ 71069 h 337399"/>
              <a:gd name="connsiteX7" fmla="*/ 1518081 w 2894120"/>
              <a:gd name="connsiteY7" fmla="*/ 88825 h 337399"/>
              <a:gd name="connsiteX8" fmla="*/ 905522 w 2894120"/>
              <a:gd name="connsiteY8" fmla="*/ 106580 h 337399"/>
              <a:gd name="connsiteX9" fmla="*/ 843379 w 2894120"/>
              <a:gd name="connsiteY9" fmla="*/ 115458 h 337399"/>
              <a:gd name="connsiteX10" fmla="*/ 736847 w 2894120"/>
              <a:gd name="connsiteY10" fmla="*/ 124335 h 337399"/>
              <a:gd name="connsiteX11" fmla="*/ 701336 w 2894120"/>
              <a:gd name="connsiteY11" fmla="*/ 133213 h 337399"/>
              <a:gd name="connsiteX12" fmla="*/ 577048 w 2894120"/>
              <a:gd name="connsiteY12" fmla="*/ 150968 h 337399"/>
              <a:gd name="connsiteX13" fmla="*/ 443883 w 2894120"/>
              <a:gd name="connsiteY13" fmla="*/ 177601 h 337399"/>
              <a:gd name="connsiteX14" fmla="*/ 381740 w 2894120"/>
              <a:gd name="connsiteY14" fmla="*/ 195357 h 337399"/>
              <a:gd name="connsiteX15" fmla="*/ 355107 w 2894120"/>
              <a:gd name="connsiteY15" fmla="*/ 204234 h 337399"/>
              <a:gd name="connsiteX16" fmla="*/ 284085 w 2894120"/>
              <a:gd name="connsiteY16" fmla="*/ 221990 h 337399"/>
              <a:gd name="connsiteX17" fmla="*/ 257452 w 2894120"/>
              <a:gd name="connsiteY17" fmla="*/ 230867 h 337399"/>
              <a:gd name="connsiteX18" fmla="*/ 186431 w 2894120"/>
              <a:gd name="connsiteY18" fmla="*/ 248623 h 337399"/>
              <a:gd name="connsiteX19" fmla="*/ 106532 w 2894120"/>
              <a:gd name="connsiteY19" fmla="*/ 275256 h 337399"/>
              <a:gd name="connsiteX20" fmla="*/ 79899 w 2894120"/>
              <a:gd name="connsiteY20" fmla="*/ 284133 h 337399"/>
              <a:gd name="connsiteX21" fmla="*/ 53266 w 2894120"/>
              <a:gd name="connsiteY21" fmla="*/ 293011 h 337399"/>
              <a:gd name="connsiteX22" fmla="*/ 35511 w 2894120"/>
              <a:gd name="connsiteY22" fmla="*/ 319644 h 337399"/>
              <a:gd name="connsiteX23" fmla="*/ 8878 w 2894120"/>
              <a:gd name="connsiteY23" fmla="*/ 328522 h 337399"/>
              <a:gd name="connsiteX24" fmla="*/ 0 w 2894120"/>
              <a:gd name="connsiteY24" fmla="*/ 337399 h 337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894120" h="337399">
                <a:moveTo>
                  <a:pt x="2894120" y="8926"/>
                </a:moveTo>
                <a:cubicBezTo>
                  <a:pt x="2809754" y="-7948"/>
                  <a:pt x="2889062" y="3249"/>
                  <a:pt x="2769833" y="8926"/>
                </a:cubicBezTo>
                <a:cubicBezTo>
                  <a:pt x="2672244" y="13573"/>
                  <a:pt x="2574524" y="14844"/>
                  <a:pt x="2476870" y="17803"/>
                </a:cubicBezTo>
                <a:cubicBezTo>
                  <a:pt x="2467992" y="20762"/>
                  <a:pt x="2459372" y="24651"/>
                  <a:pt x="2450237" y="26681"/>
                </a:cubicBezTo>
                <a:cubicBezTo>
                  <a:pt x="2382273" y="41785"/>
                  <a:pt x="2316926" y="40267"/>
                  <a:pt x="2246050" y="44436"/>
                </a:cubicBezTo>
                <a:cubicBezTo>
                  <a:pt x="2179829" y="57681"/>
                  <a:pt x="2185743" y="58252"/>
                  <a:pt x="2095130" y="62192"/>
                </a:cubicBezTo>
                <a:cubicBezTo>
                  <a:pt x="1994568" y="66564"/>
                  <a:pt x="1893903" y="68110"/>
                  <a:pt x="1793289" y="71069"/>
                </a:cubicBezTo>
                <a:cubicBezTo>
                  <a:pt x="1695908" y="78560"/>
                  <a:pt x="1617931" y="85382"/>
                  <a:pt x="1518081" y="88825"/>
                </a:cubicBezTo>
                <a:lnTo>
                  <a:pt x="905522" y="106580"/>
                </a:lnTo>
                <a:cubicBezTo>
                  <a:pt x="884808" y="109539"/>
                  <a:pt x="864189" y="113268"/>
                  <a:pt x="843379" y="115458"/>
                </a:cubicBezTo>
                <a:cubicBezTo>
                  <a:pt x="807941" y="119188"/>
                  <a:pt x="772206" y="119915"/>
                  <a:pt x="736847" y="124335"/>
                </a:cubicBezTo>
                <a:cubicBezTo>
                  <a:pt x="724740" y="125848"/>
                  <a:pt x="713300" y="130820"/>
                  <a:pt x="701336" y="133213"/>
                </a:cubicBezTo>
                <a:cubicBezTo>
                  <a:pt x="658662" y="141748"/>
                  <a:pt x="620700" y="145512"/>
                  <a:pt x="577048" y="150968"/>
                </a:cubicBezTo>
                <a:cubicBezTo>
                  <a:pt x="498360" y="177198"/>
                  <a:pt x="542383" y="166657"/>
                  <a:pt x="443883" y="177601"/>
                </a:cubicBezTo>
                <a:cubicBezTo>
                  <a:pt x="380046" y="198881"/>
                  <a:pt x="459744" y="173070"/>
                  <a:pt x="381740" y="195357"/>
                </a:cubicBezTo>
                <a:cubicBezTo>
                  <a:pt x="372742" y="197928"/>
                  <a:pt x="364135" y="201772"/>
                  <a:pt x="355107" y="204234"/>
                </a:cubicBezTo>
                <a:cubicBezTo>
                  <a:pt x="331564" y="210655"/>
                  <a:pt x="307236" y="214274"/>
                  <a:pt x="284085" y="221990"/>
                </a:cubicBezTo>
                <a:cubicBezTo>
                  <a:pt x="275207" y="224949"/>
                  <a:pt x="266480" y="228405"/>
                  <a:pt x="257452" y="230867"/>
                </a:cubicBezTo>
                <a:cubicBezTo>
                  <a:pt x="233910" y="237288"/>
                  <a:pt x="209581" y="240906"/>
                  <a:pt x="186431" y="248623"/>
                </a:cubicBezTo>
                <a:lnTo>
                  <a:pt x="106532" y="275256"/>
                </a:lnTo>
                <a:lnTo>
                  <a:pt x="79899" y="284133"/>
                </a:lnTo>
                <a:lnTo>
                  <a:pt x="53266" y="293011"/>
                </a:lnTo>
                <a:cubicBezTo>
                  <a:pt x="47348" y="301889"/>
                  <a:pt x="43842" y="312979"/>
                  <a:pt x="35511" y="319644"/>
                </a:cubicBezTo>
                <a:cubicBezTo>
                  <a:pt x="28204" y="325490"/>
                  <a:pt x="17248" y="324337"/>
                  <a:pt x="8878" y="328522"/>
                </a:cubicBezTo>
                <a:cubicBezTo>
                  <a:pt x="5135" y="330393"/>
                  <a:pt x="2959" y="334440"/>
                  <a:pt x="0" y="337399"/>
                </a:cubicBezTo>
              </a:path>
            </a:pathLst>
          </a:custGeom>
          <a:noFill/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: 圖案 25">
            <a:extLst>
              <a:ext uri="{FF2B5EF4-FFF2-40B4-BE49-F238E27FC236}">
                <a16:creationId xmlns:a16="http://schemas.microsoft.com/office/drawing/2014/main" id="{091E036A-CD7C-42DC-8B95-B9D846C467CA}"/>
              </a:ext>
            </a:extLst>
          </p:cNvPr>
          <p:cNvSpPr/>
          <p:nvPr/>
        </p:nvSpPr>
        <p:spPr>
          <a:xfrm>
            <a:off x="6480699" y="2210540"/>
            <a:ext cx="2787588" cy="204186"/>
          </a:xfrm>
          <a:custGeom>
            <a:avLst/>
            <a:gdLst>
              <a:gd name="connsiteX0" fmla="*/ 2787588 w 2787588"/>
              <a:gd name="connsiteY0" fmla="*/ 26633 h 204186"/>
              <a:gd name="connsiteX1" fmla="*/ 2698812 w 2787588"/>
              <a:gd name="connsiteY1" fmla="*/ 0 h 204186"/>
              <a:gd name="connsiteX2" fmla="*/ 2450237 w 2787588"/>
              <a:gd name="connsiteY2" fmla="*/ 17755 h 204186"/>
              <a:gd name="connsiteX3" fmla="*/ 2379216 w 2787588"/>
              <a:gd name="connsiteY3" fmla="*/ 26633 h 204186"/>
              <a:gd name="connsiteX4" fmla="*/ 2175029 w 2787588"/>
              <a:gd name="connsiteY4" fmla="*/ 35510 h 204186"/>
              <a:gd name="connsiteX5" fmla="*/ 2041864 w 2787588"/>
              <a:gd name="connsiteY5" fmla="*/ 44388 h 204186"/>
              <a:gd name="connsiteX6" fmla="*/ 1349406 w 2787588"/>
              <a:gd name="connsiteY6" fmla="*/ 53266 h 204186"/>
              <a:gd name="connsiteX7" fmla="*/ 1012054 w 2787588"/>
              <a:gd name="connsiteY7" fmla="*/ 62143 h 204186"/>
              <a:gd name="connsiteX8" fmla="*/ 941033 w 2787588"/>
              <a:gd name="connsiteY8" fmla="*/ 79899 h 204186"/>
              <a:gd name="connsiteX9" fmla="*/ 870012 w 2787588"/>
              <a:gd name="connsiteY9" fmla="*/ 88777 h 204186"/>
              <a:gd name="connsiteX10" fmla="*/ 559293 w 2787588"/>
              <a:gd name="connsiteY10" fmla="*/ 115410 h 204186"/>
              <a:gd name="connsiteX11" fmla="*/ 284085 w 2787588"/>
              <a:gd name="connsiteY11" fmla="*/ 133165 h 204186"/>
              <a:gd name="connsiteX12" fmla="*/ 257452 w 2787588"/>
              <a:gd name="connsiteY12" fmla="*/ 142043 h 204186"/>
              <a:gd name="connsiteX13" fmla="*/ 177553 w 2787588"/>
              <a:gd name="connsiteY13" fmla="*/ 150920 h 204186"/>
              <a:gd name="connsiteX14" fmla="*/ 133165 w 2787588"/>
              <a:gd name="connsiteY14" fmla="*/ 159798 h 204186"/>
              <a:gd name="connsiteX15" fmla="*/ 53266 w 2787588"/>
              <a:gd name="connsiteY15" fmla="*/ 186431 h 204186"/>
              <a:gd name="connsiteX16" fmla="*/ 26633 w 2787588"/>
              <a:gd name="connsiteY16" fmla="*/ 195309 h 204186"/>
              <a:gd name="connsiteX17" fmla="*/ 0 w 2787588"/>
              <a:gd name="connsiteY17" fmla="*/ 204186 h 20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787588" h="204186">
                <a:moveTo>
                  <a:pt x="2787588" y="26633"/>
                </a:moveTo>
                <a:cubicBezTo>
                  <a:pt x="2784484" y="25598"/>
                  <a:pt x="2712233" y="0"/>
                  <a:pt x="2698812" y="0"/>
                </a:cubicBezTo>
                <a:cubicBezTo>
                  <a:pt x="2666325" y="0"/>
                  <a:pt x="2495041" y="13274"/>
                  <a:pt x="2450237" y="17755"/>
                </a:cubicBezTo>
                <a:cubicBezTo>
                  <a:pt x="2426497" y="20129"/>
                  <a:pt x="2403024" y="25097"/>
                  <a:pt x="2379216" y="26633"/>
                </a:cubicBezTo>
                <a:cubicBezTo>
                  <a:pt x="2311231" y="31019"/>
                  <a:pt x="2243061" y="31929"/>
                  <a:pt x="2175029" y="35510"/>
                </a:cubicBezTo>
                <a:cubicBezTo>
                  <a:pt x="2130604" y="37848"/>
                  <a:pt x="2086341" y="43431"/>
                  <a:pt x="2041864" y="44388"/>
                </a:cubicBezTo>
                <a:lnTo>
                  <a:pt x="1349406" y="53266"/>
                </a:lnTo>
                <a:cubicBezTo>
                  <a:pt x="1236955" y="56225"/>
                  <a:pt x="1124422" y="56917"/>
                  <a:pt x="1012054" y="62143"/>
                </a:cubicBezTo>
                <a:cubicBezTo>
                  <a:pt x="945319" y="65247"/>
                  <a:pt x="990149" y="70968"/>
                  <a:pt x="941033" y="79899"/>
                </a:cubicBezTo>
                <a:cubicBezTo>
                  <a:pt x="917560" y="84167"/>
                  <a:pt x="893778" y="86680"/>
                  <a:pt x="870012" y="88777"/>
                </a:cubicBezTo>
                <a:cubicBezTo>
                  <a:pt x="485126" y="122737"/>
                  <a:pt x="760110" y="93096"/>
                  <a:pt x="559293" y="115410"/>
                </a:cubicBezTo>
                <a:cubicBezTo>
                  <a:pt x="440003" y="145231"/>
                  <a:pt x="576690" y="113657"/>
                  <a:pt x="284085" y="133165"/>
                </a:cubicBezTo>
                <a:cubicBezTo>
                  <a:pt x="274748" y="133788"/>
                  <a:pt x="266683" y="140505"/>
                  <a:pt x="257452" y="142043"/>
                </a:cubicBezTo>
                <a:cubicBezTo>
                  <a:pt x="231020" y="146448"/>
                  <a:pt x="204081" y="147130"/>
                  <a:pt x="177553" y="150920"/>
                </a:cubicBezTo>
                <a:cubicBezTo>
                  <a:pt x="162616" y="153054"/>
                  <a:pt x="147722" y="155828"/>
                  <a:pt x="133165" y="159798"/>
                </a:cubicBezTo>
                <a:cubicBezTo>
                  <a:pt x="133146" y="159803"/>
                  <a:pt x="66592" y="181989"/>
                  <a:pt x="53266" y="186431"/>
                </a:cubicBezTo>
                <a:lnTo>
                  <a:pt x="26633" y="195309"/>
                </a:lnTo>
                <a:lnTo>
                  <a:pt x="0" y="204186"/>
                </a:lnTo>
              </a:path>
            </a:pathLst>
          </a:custGeom>
          <a:noFill/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: 圖案 26">
            <a:extLst>
              <a:ext uri="{FF2B5EF4-FFF2-40B4-BE49-F238E27FC236}">
                <a16:creationId xmlns:a16="http://schemas.microsoft.com/office/drawing/2014/main" id="{C9734C8C-75A2-49DD-B98D-64DD8CCDE92E}"/>
              </a:ext>
            </a:extLst>
          </p:cNvPr>
          <p:cNvSpPr/>
          <p:nvPr/>
        </p:nvSpPr>
        <p:spPr>
          <a:xfrm>
            <a:off x="6010183" y="2636668"/>
            <a:ext cx="3053918" cy="116505"/>
          </a:xfrm>
          <a:custGeom>
            <a:avLst/>
            <a:gdLst>
              <a:gd name="connsiteX0" fmla="*/ 3053918 w 3053918"/>
              <a:gd name="connsiteY0" fmla="*/ 0 h 116505"/>
              <a:gd name="connsiteX1" fmla="*/ 1988598 w 3053918"/>
              <a:gd name="connsiteY1" fmla="*/ 17755 h 116505"/>
              <a:gd name="connsiteX2" fmla="*/ 1864310 w 3053918"/>
              <a:gd name="connsiteY2" fmla="*/ 26633 h 116505"/>
              <a:gd name="connsiteX3" fmla="*/ 1491448 w 3053918"/>
              <a:gd name="connsiteY3" fmla="*/ 35511 h 116505"/>
              <a:gd name="connsiteX4" fmla="*/ 1358283 w 3053918"/>
              <a:gd name="connsiteY4" fmla="*/ 44388 h 116505"/>
              <a:gd name="connsiteX5" fmla="*/ 1269506 w 3053918"/>
              <a:gd name="connsiteY5" fmla="*/ 53266 h 116505"/>
              <a:gd name="connsiteX6" fmla="*/ 665825 w 3053918"/>
              <a:gd name="connsiteY6" fmla="*/ 71021 h 116505"/>
              <a:gd name="connsiteX7" fmla="*/ 523782 w 3053918"/>
              <a:gd name="connsiteY7" fmla="*/ 79899 h 116505"/>
              <a:gd name="connsiteX8" fmla="*/ 426128 w 3053918"/>
              <a:gd name="connsiteY8" fmla="*/ 97654 h 116505"/>
              <a:gd name="connsiteX9" fmla="*/ 319596 w 3053918"/>
              <a:gd name="connsiteY9" fmla="*/ 106532 h 116505"/>
              <a:gd name="connsiteX10" fmla="*/ 266330 w 3053918"/>
              <a:gd name="connsiteY10" fmla="*/ 115410 h 116505"/>
              <a:gd name="connsiteX11" fmla="*/ 0 w 3053918"/>
              <a:gd name="connsiteY11" fmla="*/ 115410 h 116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53918" h="116505">
                <a:moveTo>
                  <a:pt x="3053918" y="0"/>
                </a:moveTo>
                <a:cubicBezTo>
                  <a:pt x="2480615" y="23889"/>
                  <a:pt x="3217221" y="-4583"/>
                  <a:pt x="1988598" y="17755"/>
                </a:cubicBezTo>
                <a:cubicBezTo>
                  <a:pt x="1947070" y="18510"/>
                  <a:pt x="1905818" y="25151"/>
                  <a:pt x="1864310" y="26633"/>
                </a:cubicBezTo>
                <a:cubicBezTo>
                  <a:pt x="1740067" y="31070"/>
                  <a:pt x="1615735" y="32552"/>
                  <a:pt x="1491448" y="35511"/>
                </a:cubicBezTo>
                <a:lnTo>
                  <a:pt x="1358283" y="44388"/>
                </a:lnTo>
                <a:cubicBezTo>
                  <a:pt x="1328638" y="46760"/>
                  <a:pt x="1299184" y="51351"/>
                  <a:pt x="1269506" y="53266"/>
                </a:cubicBezTo>
                <a:cubicBezTo>
                  <a:pt x="1071265" y="66056"/>
                  <a:pt x="860965" y="66869"/>
                  <a:pt x="665825" y="71021"/>
                </a:cubicBezTo>
                <a:cubicBezTo>
                  <a:pt x="618477" y="73980"/>
                  <a:pt x="571027" y="75604"/>
                  <a:pt x="523782" y="79899"/>
                </a:cubicBezTo>
                <a:cubicBezTo>
                  <a:pt x="420809" y="89260"/>
                  <a:pt x="517358" y="86921"/>
                  <a:pt x="426128" y="97654"/>
                </a:cubicBezTo>
                <a:cubicBezTo>
                  <a:pt x="390738" y="101817"/>
                  <a:pt x="355012" y="102597"/>
                  <a:pt x="319596" y="106532"/>
                </a:cubicBezTo>
                <a:cubicBezTo>
                  <a:pt x="301706" y="108520"/>
                  <a:pt x="284323" y="114910"/>
                  <a:pt x="266330" y="115410"/>
                </a:cubicBezTo>
                <a:cubicBezTo>
                  <a:pt x="177588" y="117875"/>
                  <a:pt x="88777" y="115410"/>
                  <a:pt x="0" y="115410"/>
                </a:cubicBezTo>
              </a:path>
            </a:pathLst>
          </a:custGeom>
          <a:noFill/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: 圖案 27">
            <a:extLst>
              <a:ext uri="{FF2B5EF4-FFF2-40B4-BE49-F238E27FC236}">
                <a16:creationId xmlns:a16="http://schemas.microsoft.com/office/drawing/2014/main" id="{60E72A37-5C35-4825-8A00-0FEB9B2D00C8}"/>
              </a:ext>
            </a:extLst>
          </p:cNvPr>
          <p:cNvSpPr/>
          <p:nvPr/>
        </p:nvSpPr>
        <p:spPr>
          <a:xfrm>
            <a:off x="5974672" y="2937267"/>
            <a:ext cx="3187083" cy="134407"/>
          </a:xfrm>
          <a:custGeom>
            <a:avLst/>
            <a:gdLst>
              <a:gd name="connsiteX0" fmla="*/ 3187083 w 3187083"/>
              <a:gd name="connsiteY0" fmla="*/ 134407 h 134407"/>
              <a:gd name="connsiteX1" fmla="*/ 2920753 w 3187083"/>
              <a:gd name="connsiteY1" fmla="*/ 107774 h 134407"/>
              <a:gd name="connsiteX2" fmla="*/ 2610035 w 3187083"/>
              <a:gd name="connsiteY2" fmla="*/ 98896 h 134407"/>
              <a:gd name="connsiteX3" fmla="*/ 2334827 w 3187083"/>
              <a:gd name="connsiteY3" fmla="*/ 81141 h 134407"/>
              <a:gd name="connsiteX4" fmla="*/ 2166151 w 3187083"/>
              <a:gd name="connsiteY4" fmla="*/ 72263 h 134407"/>
              <a:gd name="connsiteX5" fmla="*/ 1953087 w 3187083"/>
              <a:gd name="connsiteY5" fmla="*/ 54508 h 134407"/>
              <a:gd name="connsiteX6" fmla="*/ 1846555 w 3187083"/>
              <a:gd name="connsiteY6" fmla="*/ 45630 h 134407"/>
              <a:gd name="connsiteX7" fmla="*/ 1793289 w 3187083"/>
              <a:gd name="connsiteY7" fmla="*/ 36752 h 134407"/>
              <a:gd name="connsiteX8" fmla="*/ 1429305 w 3187083"/>
              <a:gd name="connsiteY8" fmla="*/ 27875 h 134407"/>
              <a:gd name="connsiteX9" fmla="*/ 266330 w 3187083"/>
              <a:gd name="connsiteY9" fmla="*/ 27875 h 134407"/>
              <a:gd name="connsiteX10" fmla="*/ 213064 w 3187083"/>
              <a:gd name="connsiteY10" fmla="*/ 36752 h 134407"/>
              <a:gd name="connsiteX11" fmla="*/ 79899 w 3187083"/>
              <a:gd name="connsiteY11" fmla="*/ 45630 h 134407"/>
              <a:gd name="connsiteX12" fmla="*/ 0 w 3187083"/>
              <a:gd name="connsiteY12" fmla="*/ 63385 h 13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7083" h="134407">
                <a:moveTo>
                  <a:pt x="3187083" y="134407"/>
                </a:moveTo>
                <a:cubicBezTo>
                  <a:pt x="3084372" y="113864"/>
                  <a:pt x="3086648" y="112514"/>
                  <a:pt x="2920753" y="107774"/>
                </a:cubicBezTo>
                <a:lnTo>
                  <a:pt x="2610035" y="98896"/>
                </a:lnTo>
                <a:cubicBezTo>
                  <a:pt x="2467138" y="81033"/>
                  <a:pt x="2575057" y="92580"/>
                  <a:pt x="2334827" y="81141"/>
                </a:cubicBezTo>
                <a:lnTo>
                  <a:pt x="2166151" y="72263"/>
                </a:lnTo>
                <a:cubicBezTo>
                  <a:pt x="1884085" y="56144"/>
                  <a:pt x="2129627" y="72162"/>
                  <a:pt x="1953087" y="54508"/>
                </a:cubicBezTo>
                <a:cubicBezTo>
                  <a:pt x="1917630" y="50962"/>
                  <a:pt x="1881971" y="49565"/>
                  <a:pt x="1846555" y="45630"/>
                </a:cubicBezTo>
                <a:cubicBezTo>
                  <a:pt x="1828665" y="43642"/>
                  <a:pt x="1811273" y="37517"/>
                  <a:pt x="1793289" y="36752"/>
                </a:cubicBezTo>
                <a:cubicBezTo>
                  <a:pt x="1672035" y="31592"/>
                  <a:pt x="1550633" y="30834"/>
                  <a:pt x="1429305" y="27875"/>
                </a:cubicBezTo>
                <a:cubicBezTo>
                  <a:pt x="1000935" y="-25673"/>
                  <a:pt x="1323588" y="11484"/>
                  <a:pt x="266330" y="27875"/>
                </a:cubicBezTo>
                <a:cubicBezTo>
                  <a:pt x="248332" y="28154"/>
                  <a:pt x="230983" y="35045"/>
                  <a:pt x="213064" y="36752"/>
                </a:cubicBezTo>
                <a:cubicBezTo>
                  <a:pt x="168778" y="40970"/>
                  <a:pt x="124287" y="42671"/>
                  <a:pt x="79899" y="45630"/>
                </a:cubicBezTo>
                <a:cubicBezTo>
                  <a:pt x="6007" y="64103"/>
                  <a:pt x="33280" y="63385"/>
                  <a:pt x="0" y="63385"/>
                </a:cubicBezTo>
              </a:path>
            </a:pathLst>
          </a:custGeom>
          <a:noFill/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38E37994-C18F-43E5-9DF9-A400E82B73DF}"/>
              </a:ext>
            </a:extLst>
          </p:cNvPr>
          <p:cNvSpPr/>
          <p:nvPr/>
        </p:nvSpPr>
        <p:spPr>
          <a:xfrm>
            <a:off x="7508520" y="3273132"/>
            <a:ext cx="221942" cy="328474"/>
          </a:xfrm>
          <a:custGeom>
            <a:avLst/>
            <a:gdLst>
              <a:gd name="connsiteX0" fmla="*/ 79899 w 221942"/>
              <a:gd name="connsiteY0" fmla="*/ 0 h 328474"/>
              <a:gd name="connsiteX1" fmla="*/ 159798 w 221942"/>
              <a:gd name="connsiteY1" fmla="*/ 62144 h 328474"/>
              <a:gd name="connsiteX2" fmla="*/ 186431 w 221942"/>
              <a:gd name="connsiteY2" fmla="*/ 88777 h 328474"/>
              <a:gd name="connsiteX3" fmla="*/ 204186 w 221942"/>
              <a:gd name="connsiteY3" fmla="*/ 115410 h 328474"/>
              <a:gd name="connsiteX4" fmla="*/ 221942 w 221942"/>
              <a:gd name="connsiteY4" fmla="*/ 168676 h 328474"/>
              <a:gd name="connsiteX5" fmla="*/ 213064 w 221942"/>
              <a:gd name="connsiteY5" fmla="*/ 248575 h 328474"/>
              <a:gd name="connsiteX6" fmla="*/ 106532 w 221942"/>
              <a:gd name="connsiteY6" fmla="*/ 319596 h 328474"/>
              <a:gd name="connsiteX7" fmla="*/ 79899 w 221942"/>
              <a:gd name="connsiteY7" fmla="*/ 328474 h 328474"/>
              <a:gd name="connsiteX8" fmla="*/ 0 w 221942"/>
              <a:gd name="connsiteY8" fmla="*/ 328474 h 3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942" h="328474">
                <a:moveTo>
                  <a:pt x="79899" y="0"/>
                </a:moveTo>
                <a:cubicBezTo>
                  <a:pt x="138641" y="35246"/>
                  <a:pt x="112086" y="14432"/>
                  <a:pt x="159798" y="62144"/>
                </a:cubicBezTo>
                <a:cubicBezTo>
                  <a:pt x="168676" y="71022"/>
                  <a:pt x="179467" y="78331"/>
                  <a:pt x="186431" y="88777"/>
                </a:cubicBezTo>
                <a:cubicBezTo>
                  <a:pt x="192349" y="97655"/>
                  <a:pt x="199853" y="105660"/>
                  <a:pt x="204186" y="115410"/>
                </a:cubicBezTo>
                <a:cubicBezTo>
                  <a:pt x="211787" y="132513"/>
                  <a:pt x="221942" y="168676"/>
                  <a:pt x="221942" y="168676"/>
                </a:cubicBezTo>
                <a:cubicBezTo>
                  <a:pt x="218983" y="195309"/>
                  <a:pt x="224396" y="224292"/>
                  <a:pt x="213064" y="248575"/>
                </a:cubicBezTo>
                <a:cubicBezTo>
                  <a:pt x="188563" y="301076"/>
                  <a:pt x="152315" y="304335"/>
                  <a:pt x="106532" y="319596"/>
                </a:cubicBezTo>
                <a:cubicBezTo>
                  <a:pt x="97654" y="322555"/>
                  <a:pt x="89257" y="328474"/>
                  <a:pt x="79899" y="328474"/>
                </a:cubicBezTo>
                <a:lnTo>
                  <a:pt x="0" y="328474"/>
                </a:lnTo>
              </a:path>
            </a:pathLst>
          </a:custGeom>
          <a:noFill/>
          <a:ln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手繪多邊形: 圖案 31">
            <a:extLst>
              <a:ext uri="{FF2B5EF4-FFF2-40B4-BE49-F238E27FC236}">
                <a16:creationId xmlns:a16="http://schemas.microsoft.com/office/drawing/2014/main" id="{8A6B4714-E754-46C2-8487-D18038347D51}"/>
              </a:ext>
            </a:extLst>
          </p:cNvPr>
          <p:cNvSpPr/>
          <p:nvPr/>
        </p:nvSpPr>
        <p:spPr>
          <a:xfrm>
            <a:off x="7729538" y="3438183"/>
            <a:ext cx="557212" cy="20902"/>
          </a:xfrm>
          <a:custGeom>
            <a:avLst/>
            <a:gdLst>
              <a:gd name="connsiteX0" fmla="*/ 0 w 557212"/>
              <a:gd name="connsiteY0" fmla="*/ 9867 h 20902"/>
              <a:gd name="connsiteX1" fmla="*/ 376237 w 557212"/>
              <a:gd name="connsiteY1" fmla="*/ 9867 h 20902"/>
              <a:gd name="connsiteX2" fmla="*/ 476250 w 557212"/>
              <a:gd name="connsiteY2" fmla="*/ 5105 h 20902"/>
              <a:gd name="connsiteX3" fmla="*/ 557212 w 557212"/>
              <a:gd name="connsiteY3" fmla="*/ 342 h 20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212" h="20902">
                <a:moveTo>
                  <a:pt x="0" y="9867"/>
                </a:moveTo>
                <a:cubicBezTo>
                  <a:pt x="144888" y="30568"/>
                  <a:pt x="38518" y="17130"/>
                  <a:pt x="376237" y="9867"/>
                </a:cubicBezTo>
                <a:cubicBezTo>
                  <a:pt x="409605" y="9149"/>
                  <a:pt x="442912" y="6692"/>
                  <a:pt x="476250" y="5105"/>
                </a:cubicBezTo>
                <a:cubicBezTo>
                  <a:pt x="525302" y="-1903"/>
                  <a:pt x="498362" y="342"/>
                  <a:pt x="557212" y="342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A77FD1B9-DD36-4278-990C-F474B2C6A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14" y="4641688"/>
            <a:ext cx="4943973" cy="161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58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2C4013A-0717-41D7-ADB7-F744991798B3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預訓練模型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(3D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4D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、運行模型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354D7B8-DA73-43F5-89C5-8849217A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782" y="1411687"/>
            <a:ext cx="6572917" cy="260247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8570E03-8D98-48C6-BDAA-3720DBA51E97}"/>
              </a:ext>
            </a:extLst>
          </p:cNvPr>
          <p:cNvSpPr/>
          <p:nvPr/>
        </p:nvSpPr>
        <p:spPr>
          <a:xfrm>
            <a:off x="4610470" y="1573588"/>
            <a:ext cx="5368032" cy="4591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不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eval()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的話，有些預訓練模型出來的數據沒意義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6F62F4-54BD-4735-AB03-24812398A911}"/>
              </a:ext>
            </a:extLst>
          </p:cNvPr>
          <p:cNvSpPr/>
          <p:nvPr/>
        </p:nvSpPr>
        <p:spPr>
          <a:xfrm>
            <a:off x="7782699" y="2273013"/>
            <a:ext cx="4145872" cy="1290097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因為</a:t>
            </a:r>
            <a:r>
              <a:rPr lang="en-US" altLang="zh-TW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的輸入需要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維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向量，所以在最前面新增一個維度，有時候多張照片疊在一起就會是四維的陣列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E1360BD-F00D-41F8-8C80-61867142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782" y="4348888"/>
            <a:ext cx="7921986" cy="220283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450ABF7-A286-4D0A-875B-7D4A9006EBD4}"/>
              </a:ext>
            </a:extLst>
          </p:cNvPr>
          <p:cNvSpPr/>
          <p:nvPr/>
        </p:nvSpPr>
        <p:spPr>
          <a:xfrm>
            <a:off x="9211666" y="5854601"/>
            <a:ext cx="2570085" cy="369332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會有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1000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個類別的機率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89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EFF5F48-6987-4593-9987-A43F0467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38" y="1437864"/>
            <a:ext cx="6783160" cy="236328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5466195-A452-49CC-AFC7-28BEC8434AE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預訓練模型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把輸出結果變成看得懂的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D13115-EAE6-4A1B-94B0-26EFA191CC65}"/>
              </a:ext>
            </a:extLst>
          </p:cNvPr>
          <p:cNvSpPr/>
          <p:nvPr/>
        </p:nvSpPr>
        <p:spPr>
          <a:xfrm>
            <a:off x="6279471" y="1502567"/>
            <a:ext cx="3113103" cy="369332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把最機率最高的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index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找出來</a:t>
            </a:r>
            <a:endParaRPr lang="en-US" altLang="zh-TW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78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2">
            <a:extLst>
              <a:ext uri="{FF2B5EF4-FFF2-40B4-BE49-F238E27FC236}">
                <a16:creationId xmlns:a16="http://schemas.microsoft.com/office/drawing/2014/main" id="{FFF0BFC4-207B-A8B2-7DEE-5F132B7B8F2E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預訓練模型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把輸出結果變成看得懂的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FADBC-CC36-5497-5D30-CD15A455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88" y="1533525"/>
            <a:ext cx="8726125" cy="306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0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541E81A-4129-49D3-987C-E6B44AC9B7AB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訓練流程介紹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ADD4B35-79B6-47C3-8791-8EB0341C5163}"/>
              </a:ext>
            </a:extLst>
          </p:cNvPr>
          <p:cNvSpPr/>
          <p:nvPr/>
        </p:nvSpPr>
        <p:spPr>
          <a:xfrm>
            <a:off x="1426787" y="2835429"/>
            <a:ext cx="1533525" cy="609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訓練資料</a:t>
            </a:r>
          </a:p>
        </p:txBody>
      </p:sp>
      <p:pic>
        <p:nvPicPr>
          <p:cNvPr id="1026" name="Picture 2" descr="Neural - Free computer icons">
            <a:extLst>
              <a:ext uri="{FF2B5EF4-FFF2-40B4-BE49-F238E27FC236}">
                <a16:creationId xmlns:a16="http://schemas.microsoft.com/office/drawing/2014/main" id="{2F29A517-F0D6-4BB2-86B5-9963DF876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654" y="2368446"/>
            <a:ext cx="1543566" cy="154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66FECFA-659A-4C4C-972E-5B3FDE2143B4}"/>
              </a:ext>
            </a:extLst>
          </p:cNvPr>
          <p:cNvSpPr/>
          <p:nvPr/>
        </p:nvSpPr>
        <p:spPr>
          <a:xfrm>
            <a:off x="6996112" y="2810976"/>
            <a:ext cx="1533525" cy="609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7E2A8BE-1E58-464E-B850-DDCCA4E388D7}"/>
              </a:ext>
            </a:extLst>
          </p:cNvPr>
          <p:cNvSpPr/>
          <p:nvPr/>
        </p:nvSpPr>
        <p:spPr>
          <a:xfrm>
            <a:off x="9058275" y="2801451"/>
            <a:ext cx="1533525" cy="609600"/>
          </a:xfrm>
          <a:prstGeom prst="roundRect">
            <a:avLst/>
          </a:prstGeom>
          <a:solidFill>
            <a:srgbClr val="F4A8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答案</a:t>
            </a:r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69A63E3A-DD55-4610-B1B1-020EC4DA71DA}"/>
              </a:ext>
            </a:extLst>
          </p:cNvPr>
          <p:cNvSpPr/>
          <p:nvPr/>
        </p:nvSpPr>
        <p:spPr>
          <a:xfrm>
            <a:off x="3285610" y="3106251"/>
            <a:ext cx="847725" cy="38100"/>
          </a:xfrm>
          <a:custGeom>
            <a:avLst/>
            <a:gdLst>
              <a:gd name="connsiteX0" fmla="*/ 0 w 847725"/>
              <a:gd name="connsiteY0" fmla="*/ 38100 h 38100"/>
              <a:gd name="connsiteX1" fmla="*/ 285750 w 847725"/>
              <a:gd name="connsiteY1" fmla="*/ 28575 h 38100"/>
              <a:gd name="connsiteX2" fmla="*/ 352425 w 847725"/>
              <a:gd name="connsiteY2" fmla="*/ 19050 h 38100"/>
              <a:gd name="connsiteX3" fmla="*/ 400050 w 847725"/>
              <a:gd name="connsiteY3" fmla="*/ 9525 h 38100"/>
              <a:gd name="connsiteX4" fmla="*/ 847725 w 847725"/>
              <a:gd name="connsiteY4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7725" h="38100">
                <a:moveTo>
                  <a:pt x="0" y="38100"/>
                </a:moveTo>
                <a:cubicBezTo>
                  <a:pt x="95250" y="34925"/>
                  <a:pt x="190586" y="33719"/>
                  <a:pt x="285750" y="28575"/>
                </a:cubicBezTo>
                <a:cubicBezTo>
                  <a:pt x="308168" y="27363"/>
                  <a:pt x="330280" y="22741"/>
                  <a:pt x="352425" y="19050"/>
                </a:cubicBezTo>
                <a:cubicBezTo>
                  <a:pt x="368394" y="16388"/>
                  <a:pt x="383873" y="10159"/>
                  <a:pt x="400050" y="9525"/>
                </a:cubicBezTo>
                <a:cubicBezTo>
                  <a:pt x="549194" y="3676"/>
                  <a:pt x="698466" y="0"/>
                  <a:pt x="847725" y="0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5DBCAC1-E7BA-4390-AEF3-5217218751D3}"/>
              </a:ext>
            </a:extLst>
          </p:cNvPr>
          <p:cNvSpPr txBox="1"/>
          <p:nvPr/>
        </p:nvSpPr>
        <p:spPr>
          <a:xfrm>
            <a:off x="3132662" y="261309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573B9D0-143A-4894-B049-60F9CACE3717}"/>
              </a:ext>
            </a:extLst>
          </p:cNvPr>
          <p:cNvSpPr txBox="1"/>
          <p:nvPr/>
        </p:nvSpPr>
        <p:spPr>
          <a:xfrm>
            <a:off x="6387556" y="410534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8BC4013-08BE-4EFB-93AC-26FEBE63A05E}"/>
              </a:ext>
            </a:extLst>
          </p:cNvPr>
          <p:cNvCxnSpPr>
            <a:cxnSpLocks/>
          </p:cNvCxnSpPr>
          <p:nvPr/>
        </p:nvCxnSpPr>
        <p:spPr>
          <a:xfrm>
            <a:off x="8515350" y="3115777"/>
            <a:ext cx="54292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手繪多邊形: 圖案 18">
            <a:extLst>
              <a:ext uri="{FF2B5EF4-FFF2-40B4-BE49-F238E27FC236}">
                <a16:creationId xmlns:a16="http://schemas.microsoft.com/office/drawing/2014/main" id="{BABED8AE-B0F2-4CA5-A477-2EB0666EDB60}"/>
              </a:ext>
            </a:extLst>
          </p:cNvPr>
          <p:cNvSpPr/>
          <p:nvPr/>
        </p:nvSpPr>
        <p:spPr>
          <a:xfrm>
            <a:off x="6022181" y="3082409"/>
            <a:ext cx="847725" cy="38100"/>
          </a:xfrm>
          <a:custGeom>
            <a:avLst/>
            <a:gdLst>
              <a:gd name="connsiteX0" fmla="*/ 0 w 847725"/>
              <a:gd name="connsiteY0" fmla="*/ 38100 h 38100"/>
              <a:gd name="connsiteX1" fmla="*/ 285750 w 847725"/>
              <a:gd name="connsiteY1" fmla="*/ 28575 h 38100"/>
              <a:gd name="connsiteX2" fmla="*/ 352425 w 847725"/>
              <a:gd name="connsiteY2" fmla="*/ 19050 h 38100"/>
              <a:gd name="connsiteX3" fmla="*/ 400050 w 847725"/>
              <a:gd name="connsiteY3" fmla="*/ 9525 h 38100"/>
              <a:gd name="connsiteX4" fmla="*/ 847725 w 847725"/>
              <a:gd name="connsiteY4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7725" h="38100">
                <a:moveTo>
                  <a:pt x="0" y="38100"/>
                </a:moveTo>
                <a:cubicBezTo>
                  <a:pt x="95250" y="34925"/>
                  <a:pt x="190586" y="33719"/>
                  <a:pt x="285750" y="28575"/>
                </a:cubicBezTo>
                <a:cubicBezTo>
                  <a:pt x="308168" y="27363"/>
                  <a:pt x="330280" y="22741"/>
                  <a:pt x="352425" y="19050"/>
                </a:cubicBezTo>
                <a:cubicBezTo>
                  <a:pt x="368394" y="16388"/>
                  <a:pt x="383873" y="10159"/>
                  <a:pt x="400050" y="9525"/>
                </a:cubicBezTo>
                <a:cubicBezTo>
                  <a:pt x="549194" y="3676"/>
                  <a:pt x="698466" y="0"/>
                  <a:pt x="847725" y="0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F21A62DB-E6A9-4255-9160-7F12476DAC76}"/>
              </a:ext>
            </a:extLst>
          </p:cNvPr>
          <p:cNvSpPr/>
          <p:nvPr/>
        </p:nvSpPr>
        <p:spPr>
          <a:xfrm>
            <a:off x="5048250" y="3115777"/>
            <a:ext cx="3786609" cy="1543566"/>
          </a:xfrm>
          <a:custGeom>
            <a:avLst/>
            <a:gdLst>
              <a:gd name="connsiteX0" fmla="*/ 3786609 w 3786609"/>
              <a:gd name="connsiteY0" fmla="*/ 0 h 1543566"/>
              <a:gd name="connsiteX1" fmla="*/ 3777084 w 3786609"/>
              <a:gd name="connsiteY1" fmla="*/ 971550 h 1543566"/>
              <a:gd name="connsiteX2" fmla="*/ 3758034 w 3786609"/>
              <a:gd name="connsiteY2" fmla="*/ 1104900 h 1543566"/>
              <a:gd name="connsiteX3" fmla="*/ 3748509 w 3786609"/>
              <a:gd name="connsiteY3" fmla="*/ 1133475 h 1543566"/>
              <a:gd name="connsiteX4" fmla="*/ 3729459 w 3786609"/>
              <a:gd name="connsiteY4" fmla="*/ 1247775 h 1543566"/>
              <a:gd name="connsiteX5" fmla="*/ 3653259 w 3786609"/>
              <a:gd name="connsiteY5" fmla="*/ 1314450 h 1543566"/>
              <a:gd name="connsiteX6" fmla="*/ 3586584 w 3786609"/>
              <a:gd name="connsiteY6" fmla="*/ 1343025 h 1543566"/>
              <a:gd name="connsiteX7" fmla="*/ 3434184 w 3786609"/>
              <a:gd name="connsiteY7" fmla="*/ 1362075 h 1543566"/>
              <a:gd name="connsiteX8" fmla="*/ 3386559 w 3786609"/>
              <a:gd name="connsiteY8" fmla="*/ 1371600 h 1543566"/>
              <a:gd name="connsiteX9" fmla="*/ 3281784 w 3786609"/>
              <a:gd name="connsiteY9" fmla="*/ 1381125 h 1543566"/>
              <a:gd name="connsiteX10" fmla="*/ 3205584 w 3786609"/>
              <a:gd name="connsiteY10" fmla="*/ 1390650 h 1543566"/>
              <a:gd name="connsiteX11" fmla="*/ 3157959 w 3786609"/>
              <a:gd name="connsiteY11" fmla="*/ 1400175 h 1543566"/>
              <a:gd name="connsiteX12" fmla="*/ 3062709 w 3786609"/>
              <a:gd name="connsiteY12" fmla="*/ 1409700 h 1543566"/>
              <a:gd name="connsiteX13" fmla="*/ 3015084 w 3786609"/>
              <a:gd name="connsiteY13" fmla="*/ 1419225 h 1543566"/>
              <a:gd name="connsiteX14" fmla="*/ 2843634 w 3786609"/>
              <a:gd name="connsiteY14" fmla="*/ 1428750 h 1543566"/>
              <a:gd name="connsiteX15" fmla="*/ 2776959 w 3786609"/>
              <a:gd name="connsiteY15" fmla="*/ 1438275 h 1543566"/>
              <a:gd name="connsiteX16" fmla="*/ 2529309 w 3786609"/>
              <a:gd name="connsiteY16" fmla="*/ 1457325 h 1543566"/>
              <a:gd name="connsiteX17" fmla="*/ 2395959 w 3786609"/>
              <a:gd name="connsiteY17" fmla="*/ 1476375 h 1543566"/>
              <a:gd name="connsiteX18" fmla="*/ 2195934 w 3786609"/>
              <a:gd name="connsiteY18" fmla="*/ 1485900 h 1543566"/>
              <a:gd name="connsiteX19" fmla="*/ 2024484 w 3786609"/>
              <a:gd name="connsiteY19" fmla="*/ 1504950 h 1543566"/>
              <a:gd name="connsiteX20" fmla="*/ 1910184 w 3786609"/>
              <a:gd name="connsiteY20" fmla="*/ 1514475 h 1543566"/>
              <a:gd name="connsiteX21" fmla="*/ 1633959 w 3786609"/>
              <a:gd name="connsiteY21" fmla="*/ 1524000 h 1543566"/>
              <a:gd name="connsiteX22" fmla="*/ 948159 w 3786609"/>
              <a:gd name="connsiteY22" fmla="*/ 1524000 h 1543566"/>
              <a:gd name="connsiteX23" fmla="*/ 910059 w 3786609"/>
              <a:gd name="connsiteY23" fmla="*/ 1514475 h 1543566"/>
              <a:gd name="connsiteX24" fmla="*/ 833859 w 3786609"/>
              <a:gd name="connsiteY24" fmla="*/ 1504950 h 1543566"/>
              <a:gd name="connsiteX25" fmla="*/ 510009 w 3786609"/>
              <a:gd name="connsiteY25" fmla="*/ 1485900 h 1543566"/>
              <a:gd name="connsiteX26" fmla="*/ 271884 w 3786609"/>
              <a:gd name="connsiteY26" fmla="*/ 1457325 h 1543566"/>
              <a:gd name="connsiteX27" fmla="*/ 157584 w 3786609"/>
              <a:gd name="connsiteY27" fmla="*/ 1447800 h 1543566"/>
              <a:gd name="connsiteX28" fmla="*/ 90909 w 3786609"/>
              <a:gd name="connsiteY28" fmla="*/ 1428750 h 1543566"/>
              <a:gd name="connsiteX29" fmla="*/ 43284 w 3786609"/>
              <a:gd name="connsiteY29" fmla="*/ 1371600 h 1543566"/>
              <a:gd name="connsiteX30" fmla="*/ 33759 w 3786609"/>
              <a:gd name="connsiteY30" fmla="*/ 1343025 h 1543566"/>
              <a:gd name="connsiteX31" fmla="*/ 14709 w 3786609"/>
              <a:gd name="connsiteY31" fmla="*/ 1314450 h 1543566"/>
              <a:gd name="connsiteX32" fmla="*/ 14709 w 3786609"/>
              <a:gd name="connsiteY32" fmla="*/ 933450 h 1543566"/>
              <a:gd name="connsiteX33" fmla="*/ 24234 w 3786609"/>
              <a:gd name="connsiteY33" fmla="*/ 876300 h 154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86609" h="1543566">
                <a:moveTo>
                  <a:pt x="3786609" y="0"/>
                </a:moveTo>
                <a:cubicBezTo>
                  <a:pt x="3783434" y="323850"/>
                  <a:pt x="3782918" y="647737"/>
                  <a:pt x="3777084" y="971550"/>
                </a:cubicBezTo>
                <a:cubicBezTo>
                  <a:pt x="3776509" y="1003487"/>
                  <a:pt x="3767151" y="1068431"/>
                  <a:pt x="3758034" y="1104900"/>
                </a:cubicBezTo>
                <a:cubicBezTo>
                  <a:pt x="3755599" y="1114640"/>
                  <a:pt x="3751684" y="1123950"/>
                  <a:pt x="3748509" y="1133475"/>
                </a:cubicBezTo>
                <a:cubicBezTo>
                  <a:pt x="3747095" y="1143376"/>
                  <a:pt x="3735887" y="1230633"/>
                  <a:pt x="3729459" y="1247775"/>
                </a:cubicBezTo>
                <a:cubicBezTo>
                  <a:pt x="3717370" y="1280013"/>
                  <a:pt x="3680613" y="1300773"/>
                  <a:pt x="3653259" y="1314450"/>
                </a:cubicBezTo>
                <a:cubicBezTo>
                  <a:pt x="3629963" y="1326098"/>
                  <a:pt x="3611811" y="1337419"/>
                  <a:pt x="3586584" y="1343025"/>
                </a:cubicBezTo>
                <a:cubicBezTo>
                  <a:pt x="3527369" y="1356184"/>
                  <a:pt x="3500061" y="1353291"/>
                  <a:pt x="3434184" y="1362075"/>
                </a:cubicBezTo>
                <a:cubicBezTo>
                  <a:pt x="3418137" y="1364215"/>
                  <a:pt x="3402623" y="1369592"/>
                  <a:pt x="3386559" y="1371600"/>
                </a:cubicBezTo>
                <a:cubicBezTo>
                  <a:pt x="3351761" y="1375950"/>
                  <a:pt x="3316660" y="1377454"/>
                  <a:pt x="3281784" y="1381125"/>
                </a:cubicBezTo>
                <a:cubicBezTo>
                  <a:pt x="3256327" y="1383805"/>
                  <a:pt x="3230884" y="1386758"/>
                  <a:pt x="3205584" y="1390650"/>
                </a:cubicBezTo>
                <a:cubicBezTo>
                  <a:pt x="3189583" y="1393112"/>
                  <a:pt x="3174006" y="1398035"/>
                  <a:pt x="3157959" y="1400175"/>
                </a:cubicBezTo>
                <a:cubicBezTo>
                  <a:pt x="3126331" y="1404392"/>
                  <a:pt x="3094337" y="1405483"/>
                  <a:pt x="3062709" y="1409700"/>
                </a:cubicBezTo>
                <a:cubicBezTo>
                  <a:pt x="3046662" y="1411840"/>
                  <a:pt x="3031213" y="1417823"/>
                  <a:pt x="3015084" y="1419225"/>
                </a:cubicBezTo>
                <a:cubicBezTo>
                  <a:pt x="2958061" y="1424184"/>
                  <a:pt x="2900784" y="1425575"/>
                  <a:pt x="2843634" y="1428750"/>
                </a:cubicBezTo>
                <a:cubicBezTo>
                  <a:pt x="2821409" y="1431925"/>
                  <a:pt x="2799317" y="1436242"/>
                  <a:pt x="2776959" y="1438275"/>
                </a:cubicBezTo>
                <a:cubicBezTo>
                  <a:pt x="2645128" y="1450260"/>
                  <a:pt x="2647795" y="1443385"/>
                  <a:pt x="2529309" y="1457325"/>
                </a:cubicBezTo>
                <a:cubicBezTo>
                  <a:pt x="2446755" y="1467037"/>
                  <a:pt x="2491528" y="1469784"/>
                  <a:pt x="2395959" y="1476375"/>
                </a:cubicBezTo>
                <a:cubicBezTo>
                  <a:pt x="2329367" y="1480968"/>
                  <a:pt x="2262609" y="1482725"/>
                  <a:pt x="2195934" y="1485900"/>
                </a:cubicBezTo>
                <a:cubicBezTo>
                  <a:pt x="2113897" y="1496155"/>
                  <a:pt x="2113012" y="1496902"/>
                  <a:pt x="2024484" y="1504950"/>
                </a:cubicBezTo>
                <a:cubicBezTo>
                  <a:pt x="1986409" y="1508411"/>
                  <a:pt x="1948371" y="1512612"/>
                  <a:pt x="1910184" y="1514475"/>
                </a:cubicBezTo>
                <a:cubicBezTo>
                  <a:pt x="1818164" y="1518964"/>
                  <a:pt x="1726034" y="1520825"/>
                  <a:pt x="1633959" y="1524000"/>
                </a:cubicBezTo>
                <a:cubicBezTo>
                  <a:pt x="1363247" y="1557839"/>
                  <a:pt x="1526640" y="1541014"/>
                  <a:pt x="948159" y="1524000"/>
                </a:cubicBezTo>
                <a:cubicBezTo>
                  <a:pt x="935074" y="1523615"/>
                  <a:pt x="922972" y="1516627"/>
                  <a:pt x="910059" y="1514475"/>
                </a:cubicBezTo>
                <a:cubicBezTo>
                  <a:pt x="884810" y="1510267"/>
                  <a:pt x="859368" y="1507076"/>
                  <a:pt x="833859" y="1504950"/>
                </a:cubicBezTo>
                <a:cubicBezTo>
                  <a:pt x="781477" y="1500585"/>
                  <a:pt x="555564" y="1488431"/>
                  <a:pt x="510009" y="1485900"/>
                </a:cubicBezTo>
                <a:cubicBezTo>
                  <a:pt x="415238" y="1454310"/>
                  <a:pt x="489038" y="1476486"/>
                  <a:pt x="271884" y="1457325"/>
                </a:cubicBezTo>
                <a:lnTo>
                  <a:pt x="157584" y="1447800"/>
                </a:lnTo>
                <a:cubicBezTo>
                  <a:pt x="152503" y="1446530"/>
                  <a:pt x="99108" y="1434216"/>
                  <a:pt x="90909" y="1428750"/>
                </a:cubicBezTo>
                <a:cubicBezTo>
                  <a:pt x="75110" y="1418217"/>
                  <a:pt x="52069" y="1389171"/>
                  <a:pt x="43284" y="1371600"/>
                </a:cubicBezTo>
                <a:cubicBezTo>
                  <a:pt x="38794" y="1362620"/>
                  <a:pt x="38249" y="1352005"/>
                  <a:pt x="33759" y="1343025"/>
                </a:cubicBezTo>
                <a:cubicBezTo>
                  <a:pt x="28639" y="1332786"/>
                  <a:pt x="21059" y="1323975"/>
                  <a:pt x="14709" y="1314450"/>
                </a:cubicBezTo>
                <a:cubicBezTo>
                  <a:pt x="-8463" y="1152244"/>
                  <a:pt x="-991" y="1231750"/>
                  <a:pt x="14709" y="933450"/>
                </a:cubicBezTo>
                <a:cubicBezTo>
                  <a:pt x="24857" y="740644"/>
                  <a:pt x="24234" y="929876"/>
                  <a:pt x="24234" y="876300"/>
                </a:cubicBez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7C0F70BD-D9AF-41A9-9E43-FCAAC5637A42}"/>
              </a:ext>
            </a:extLst>
          </p:cNvPr>
          <p:cNvSpPr/>
          <p:nvPr/>
        </p:nvSpPr>
        <p:spPr>
          <a:xfrm>
            <a:off x="4397654" y="4796385"/>
            <a:ext cx="1443607" cy="5191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權重更新</a:t>
            </a:r>
          </a:p>
        </p:txBody>
      </p:sp>
    </p:spTree>
    <p:extLst>
      <p:ext uri="{BB962C8B-B14F-4D97-AF65-F5344CB8AC3E}">
        <p14:creationId xmlns:p14="http://schemas.microsoft.com/office/powerpoint/2010/main" val="369599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5466195-A452-49CC-AFC7-28BEC8434AE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(import)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F686E30-E0DC-4E50-95AE-59C067C68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47" y="2292141"/>
            <a:ext cx="11412106" cy="227371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8E58E5B-A017-4B36-A116-34E8490E8F5E}"/>
              </a:ext>
            </a:extLst>
          </p:cNvPr>
          <p:cNvSpPr txBox="1"/>
          <p:nvPr/>
        </p:nvSpPr>
        <p:spPr>
          <a:xfrm>
            <a:off x="389947" y="1577788"/>
            <a:ext cx="3159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載入需要的工具</a:t>
            </a:r>
          </a:p>
        </p:txBody>
      </p:sp>
    </p:spTree>
    <p:extLst>
      <p:ext uri="{BB962C8B-B14F-4D97-AF65-F5344CB8AC3E}">
        <p14:creationId xmlns:p14="http://schemas.microsoft.com/office/powerpoint/2010/main" val="636436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4CEA37-3FB9-41BC-886C-9C0CC71E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80" y="2900967"/>
            <a:ext cx="11412039" cy="178127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6DB79D6-0CDA-420E-B1C9-3F1B1041751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製作訓練集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驗證集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DE4676A-D41C-40EE-B7EE-70C68D4A1A2C}"/>
              </a:ext>
            </a:extLst>
          </p:cNvPr>
          <p:cNvSpPr txBox="1"/>
          <p:nvPr/>
        </p:nvSpPr>
        <p:spPr>
          <a:xfrm>
            <a:off x="304222" y="2149288"/>
            <a:ext cx="2082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載入資料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90D1B1A-321D-4206-B7CC-5AD0E85304AD}"/>
              </a:ext>
            </a:extLst>
          </p:cNvPr>
          <p:cNvSpPr txBox="1"/>
          <p:nvPr/>
        </p:nvSpPr>
        <p:spPr>
          <a:xfrm>
            <a:off x="2524125" y="290096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載入訓練集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測試集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971C2D-4EAD-4665-8C3B-5838C1AC7294}"/>
              </a:ext>
            </a:extLst>
          </p:cNvPr>
          <p:cNvSpPr/>
          <p:nvPr/>
        </p:nvSpPr>
        <p:spPr>
          <a:xfrm>
            <a:off x="2386843" y="376788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分成好幾個批次</a:t>
            </a:r>
          </a:p>
        </p:txBody>
      </p:sp>
    </p:spTree>
    <p:extLst>
      <p:ext uri="{BB962C8B-B14F-4D97-AF65-F5344CB8AC3E}">
        <p14:creationId xmlns:p14="http://schemas.microsoft.com/office/powerpoint/2010/main" val="3775816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5466195-A452-49CC-AFC7-28BEC8434AE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98DF093-0FFB-401C-B920-8812D4C0E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37" y="2001217"/>
            <a:ext cx="8345291" cy="40589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3D32F04-B7AF-4CE7-A2F1-89620DB75B21}"/>
              </a:ext>
            </a:extLst>
          </p:cNvPr>
          <p:cNvSpPr/>
          <p:nvPr/>
        </p:nvSpPr>
        <p:spPr>
          <a:xfrm>
            <a:off x="699248" y="2088777"/>
            <a:ext cx="8166847" cy="1210236"/>
          </a:xfrm>
          <a:prstGeom prst="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314A4D-4137-42E2-93F0-6C1CA3A3B894}"/>
              </a:ext>
            </a:extLst>
          </p:cNvPr>
          <p:cNvSpPr/>
          <p:nvPr/>
        </p:nvSpPr>
        <p:spPr>
          <a:xfrm>
            <a:off x="1828802" y="4365812"/>
            <a:ext cx="3361764" cy="394448"/>
          </a:xfrm>
          <a:prstGeom prst="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AF7F20-B1F6-4410-81AD-2A3F061ABB89}"/>
              </a:ext>
            </a:extLst>
          </p:cNvPr>
          <p:cNvSpPr/>
          <p:nvPr/>
        </p:nvSpPr>
        <p:spPr>
          <a:xfrm>
            <a:off x="2877672" y="5479850"/>
            <a:ext cx="1488140" cy="394448"/>
          </a:xfrm>
          <a:prstGeom prst="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0388B00-4D3C-4C83-AA45-8A87BA30DE6B}"/>
              </a:ext>
            </a:extLst>
          </p:cNvPr>
          <p:cNvSpPr txBox="1"/>
          <p:nvPr/>
        </p:nvSpPr>
        <p:spPr>
          <a:xfrm>
            <a:off x="528919" y="1302406"/>
            <a:ext cx="6391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要定義模型基本上就都會有這些東西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DEC135E-8627-468A-B8F5-21987943B4C9}"/>
              </a:ext>
            </a:extLst>
          </p:cNvPr>
          <p:cNvSpPr txBox="1"/>
          <p:nvPr/>
        </p:nvSpPr>
        <p:spPr>
          <a:xfrm>
            <a:off x="9244548" y="2232230"/>
            <a:ext cx="2452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 __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init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__():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是要定義自己的會用到的工具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1353AD-751F-4683-B603-5CEBFFC68D9D}"/>
              </a:ext>
            </a:extLst>
          </p:cNvPr>
          <p:cNvSpPr txBox="1"/>
          <p:nvPr/>
        </p:nvSpPr>
        <p:spPr>
          <a:xfrm>
            <a:off x="9244548" y="4437094"/>
            <a:ext cx="2799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 forward():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是定義輸入到輸出的過程</a:t>
            </a:r>
          </a:p>
        </p:txBody>
      </p:sp>
    </p:spTree>
    <p:extLst>
      <p:ext uri="{BB962C8B-B14F-4D97-AF65-F5344CB8AC3E}">
        <p14:creationId xmlns:p14="http://schemas.microsoft.com/office/powerpoint/2010/main" val="1956982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5466195-A452-49CC-AFC7-28BEC8434AE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98DF093-0FFB-401C-B920-8812D4C0E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96" y="2113993"/>
            <a:ext cx="8345291" cy="40589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3D32F04-B7AF-4CE7-A2F1-89620DB75B21}"/>
              </a:ext>
            </a:extLst>
          </p:cNvPr>
          <p:cNvSpPr/>
          <p:nvPr/>
        </p:nvSpPr>
        <p:spPr>
          <a:xfrm>
            <a:off x="2856672" y="3417477"/>
            <a:ext cx="5732212" cy="773523"/>
          </a:xfrm>
          <a:prstGeom prst="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AF7F20-B1F6-4410-81AD-2A3F061ABB89}"/>
              </a:ext>
            </a:extLst>
          </p:cNvPr>
          <p:cNvSpPr/>
          <p:nvPr/>
        </p:nvSpPr>
        <p:spPr>
          <a:xfrm>
            <a:off x="2910109" y="4863891"/>
            <a:ext cx="3584797" cy="773522"/>
          </a:xfrm>
          <a:prstGeom prst="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0388B00-4D3C-4C83-AA45-8A87BA30DE6B}"/>
              </a:ext>
            </a:extLst>
          </p:cNvPr>
          <p:cNvSpPr txBox="1"/>
          <p:nvPr/>
        </p:nvSpPr>
        <p:spPr>
          <a:xfrm>
            <a:off x="467578" y="1415182"/>
            <a:ext cx="3518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定義兩種全連接層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86EF398-E262-42DC-8AA7-00C880DA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556" y="2499006"/>
            <a:ext cx="2581744" cy="258734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C04EA07-1305-4747-A809-A417A253DBC6}"/>
              </a:ext>
            </a:extLst>
          </p:cNvPr>
          <p:cNvSpPr/>
          <p:nvPr/>
        </p:nvSpPr>
        <p:spPr>
          <a:xfrm>
            <a:off x="9395526" y="3152598"/>
            <a:ext cx="530352" cy="1453896"/>
          </a:xfrm>
          <a:prstGeom prst="rect">
            <a:avLst/>
          </a:prstGeom>
          <a:solidFill>
            <a:srgbClr val="00B05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41B410-A194-4B46-8A31-714686144E59}"/>
              </a:ext>
            </a:extLst>
          </p:cNvPr>
          <p:cNvSpPr/>
          <p:nvPr/>
        </p:nvSpPr>
        <p:spPr>
          <a:xfrm>
            <a:off x="11057630" y="2820366"/>
            <a:ext cx="605608" cy="1859280"/>
          </a:xfrm>
          <a:prstGeom prst="rect">
            <a:avLst/>
          </a:prstGeom>
          <a:solidFill>
            <a:srgbClr val="FF00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14DBFC-0FBA-42EE-84DC-D46517DC3782}"/>
              </a:ext>
            </a:extLst>
          </p:cNvPr>
          <p:cNvSpPr txBox="1"/>
          <p:nvPr/>
        </p:nvSpPr>
        <p:spPr>
          <a:xfrm>
            <a:off x="9118654" y="276335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輸入大小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EA3DA6A-1F7B-4E74-87B0-F4BDD4A37F3C}"/>
              </a:ext>
            </a:extLst>
          </p:cNvPr>
          <p:cNvSpPr txBox="1"/>
          <p:nvPr/>
        </p:nvSpPr>
        <p:spPr>
          <a:xfrm>
            <a:off x="9787881" y="216390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顆神經元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B55A5D6-5A0D-4DE8-9470-40BAE349727C}"/>
              </a:ext>
            </a:extLst>
          </p:cNvPr>
          <p:cNvSpPr txBox="1"/>
          <p:nvPr/>
        </p:nvSpPr>
        <p:spPr>
          <a:xfrm>
            <a:off x="10913002" y="248120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輸出大小</a:t>
            </a:r>
          </a:p>
        </p:txBody>
      </p:sp>
      <p:sp>
        <p:nvSpPr>
          <p:cNvPr id="23" name="手繪多邊形: 圖案 22">
            <a:extLst>
              <a:ext uri="{FF2B5EF4-FFF2-40B4-BE49-F238E27FC236}">
                <a16:creationId xmlns:a16="http://schemas.microsoft.com/office/drawing/2014/main" id="{28528561-82D6-4B0B-9256-A28F8BD1774D}"/>
              </a:ext>
            </a:extLst>
          </p:cNvPr>
          <p:cNvSpPr/>
          <p:nvPr/>
        </p:nvSpPr>
        <p:spPr>
          <a:xfrm>
            <a:off x="2805113" y="5086350"/>
            <a:ext cx="2301599" cy="233363"/>
          </a:xfrm>
          <a:custGeom>
            <a:avLst/>
            <a:gdLst>
              <a:gd name="connsiteX0" fmla="*/ 80962 w 2301599"/>
              <a:gd name="connsiteY0" fmla="*/ 0 h 233363"/>
              <a:gd name="connsiteX1" fmla="*/ 19050 w 2301599"/>
              <a:gd name="connsiteY1" fmla="*/ 14288 h 233363"/>
              <a:gd name="connsiteX2" fmla="*/ 4762 w 2301599"/>
              <a:gd name="connsiteY2" fmla="*/ 28575 h 233363"/>
              <a:gd name="connsiteX3" fmla="*/ 0 w 2301599"/>
              <a:gd name="connsiteY3" fmla="*/ 42863 h 233363"/>
              <a:gd name="connsiteX4" fmla="*/ 4762 w 2301599"/>
              <a:gd name="connsiteY4" fmla="*/ 100013 h 233363"/>
              <a:gd name="connsiteX5" fmla="*/ 14287 w 2301599"/>
              <a:gd name="connsiteY5" fmla="*/ 114300 h 233363"/>
              <a:gd name="connsiteX6" fmla="*/ 28575 w 2301599"/>
              <a:gd name="connsiteY6" fmla="*/ 133350 h 233363"/>
              <a:gd name="connsiteX7" fmla="*/ 57150 w 2301599"/>
              <a:gd name="connsiteY7" fmla="*/ 142875 h 233363"/>
              <a:gd name="connsiteX8" fmla="*/ 123825 w 2301599"/>
              <a:gd name="connsiteY8" fmla="*/ 152400 h 233363"/>
              <a:gd name="connsiteX9" fmla="*/ 381000 w 2301599"/>
              <a:gd name="connsiteY9" fmla="*/ 142875 h 233363"/>
              <a:gd name="connsiteX10" fmla="*/ 909637 w 2301599"/>
              <a:gd name="connsiteY10" fmla="*/ 138113 h 233363"/>
              <a:gd name="connsiteX11" fmla="*/ 2028825 w 2301599"/>
              <a:gd name="connsiteY11" fmla="*/ 128588 h 233363"/>
              <a:gd name="connsiteX12" fmla="*/ 2276475 w 2301599"/>
              <a:gd name="connsiteY12" fmla="*/ 133350 h 233363"/>
              <a:gd name="connsiteX13" fmla="*/ 2290762 w 2301599"/>
              <a:gd name="connsiteY13" fmla="*/ 142875 h 233363"/>
              <a:gd name="connsiteX14" fmla="*/ 2300287 w 2301599"/>
              <a:gd name="connsiteY14" fmla="*/ 233363 h 233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01599" h="233363">
                <a:moveTo>
                  <a:pt x="80962" y="0"/>
                </a:moveTo>
                <a:cubicBezTo>
                  <a:pt x="45098" y="3587"/>
                  <a:pt x="40349" y="-3461"/>
                  <a:pt x="19050" y="14288"/>
                </a:cubicBezTo>
                <a:cubicBezTo>
                  <a:pt x="13876" y="18600"/>
                  <a:pt x="9525" y="23813"/>
                  <a:pt x="4762" y="28575"/>
                </a:cubicBezTo>
                <a:cubicBezTo>
                  <a:pt x="3175" y="33338"/>
                  <a:pt x="0" y="37843"/>
                  <a:pt x="0" y="42863"/>
                </a:cubicBezTo>
                <a:cubicBezTo>
                  <a:pt x="0" y="61979"/>
                  <a:pt x="1013" y="81268"/>
                  <a:pt x="4762" y="100013"/>
                </a:cubicBezTo>
                <a:cubicBezTo>
                  <a:pt x="5884" y="105626"/>
                  <a:pt x="10960" y="109643"/>
                  <a:pt x="14287" y="114300"/>
                </a:cubicBezTo>
                <a:cubicBezTo>
                  <a:pt x="18901" y="120759"/>
                  <a:pt x="21970" y="128947"/>
                  <a:pt x="28575" y="133350"/>
                </a:cubicBezTo>
                <a:cubicBezTo>
                  <a:pt x="36929" y="138919"/>
                  <a:pt x="47410" y="140440"/>
                  <a:pt x="57150" y="142875"/>
                </a:cubicBezTo>
                <a:cubicBezTo>
                  <a:pt x="91678" y="151508"/>
                  <a:pt x="69687" y="146987"/>
                  <a:pt x="123825" y="152400"/>
                </a:cubicBezTo>
                <a:lnTo>
                  <a:pt x="381000" y="142875"/>
                </a:lnTo>
                <a:lnTo>
                  <a:pt x="909637" y="138113"/>
                </a:lnTo>
                <a:cubicBezTo>
                  <a:pt x="1358853" y="124074"/>
                  <a:pt x="1171591" y="128588"/>
                  <a:pt x="2028825" y="128588"/>
                </a:cubicBezTo>
                <a:cubicBezTo>
                  <a:pt x="2111390" y="128588"/>
                  <a:pt x="2193925" y="131763"/>
                  <a:pt x="2276475" y="133350"/>
                </a:cubicBezTo>
                <a:cubicBezTo>
                  <a:pt x="2281237" y="136525"/>
                  <a:pt x="2287729" y="138021"/>
                  <a:pt x="2290762" y="142875"/>
                </a:cubicBezTo>
                <a:cubicBezTo>
                  <a:pt x="2306813" y="168557"/>
                  <a:pt x="2300287" y="207599"/>
                  <a:pt x="2300287" y="233363"/>
                </a:cubicBezTo>
              </a:path>
            </a:pathLst>
          </a:custGeom>
          <a:noFill/>
          <a:ln w="31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F4E396B0-BB55-4A75-86F3-3AD3A169CF12}"/>
              </a:ext>
            </a:extLst>
          </p:cNvPr>
          <p:cNvSpPr/>
          <p:nvPr/>
        </p:nvSpPr>
        <p:spPr>
          <a:xfrm>
            <a:off x="2752725" y="5457825"/>
            <a:ext cx="1366838" cy="266700"/>
          </a:xfrm>
          <a:custGeom>
            <a:avLst/>
            <a:gdLst>
              <a:gd name="connsiteX0" fmla="*/ 166688 w 1366838"/>
              <a:gd name="connsiteY0" fmla="*/ 0 h 266700"/>
              <a:gd name="connsiteX1" fmla="*/ 71438 w 1366838"/>
              <a:gd name="connsiteY1" fmla="*/ 4763 h 266700"/>
              <a:gd name="connsiteX2" fmla="*/ 38100 w 1366838"/>
              <a:gd name="connsiteY2" fmla="*/ 14288 h 266700"/>
              <a:gd name="connsiteX3" fmla="*/ 28575 w 1366838"/>
              <a:gd name="connsiteY3" fmla="*/ 28575 h 266700"/>
              <a:gd name="connsiteX4" fmla="*/ 14288 w 1366838"/>
              <a:gd name="connsiteY4" fmla="*/ 42863 h 266700"/>
              <a:gd name="connsiteX5" fmla="*/ 9525 w 1366838"/>
              <a:gd name="connsiteY5" fmla="*/ 57150 h 266700"/>
              <a:gd name="connsiteX6" fmla="*/ 0 w 1366838"/>
              <a:gd name="connsiteY6" fmla="*/ 71438 h 266700"/>
              <a:gd name="connsiteX7" fmla="*/ 4763 w 1366838"/>
              <a:gd name="connsiteY7" fmla="*/ 157163 h 266700"/>
              <a:gd name="connsiteX8" fmla="*/ 19050 w 1366838"/>
              <a:gd name="connsiteY8" fmla="*/ 166688 h 266700"/>
              <a:gd name="connsiteX9" fmla="*/ 61913 w 1366838"/>
              <a:gd name="connsiteY9" fmla="*/ 176213 h 266700"/>
              <a:gd name="connsiteX10" fmla="*/ 714375 w 1366838"/>
              <a:gd name="connsiteY10" fmla="*/ 171450 h 266700"/>
              <a:gd name="connsiteX11" fmla="*/ 1347788 w 1366838"/>
              <a:gd name="connsiteY11" fmla="*/ 185738 h 266700"/>
              <a:gd name="connsiteX12" fmla="*/ 1362075 w 1366838"/>
              <a:gd name="connsiteY12" fmla="*/ 195263 h 266700"/>
              <a:gd name="connsiteX13" fmla="*/ 1366838 w 1366838"/>
              <a:gd name="connsiteY13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66838" h="266700">
                <a:moveTo>
                  <a:pt x="166688" y="0"/>
                </a:moveTo>
                <a:cubicBezTo>
                  <a:pt x="134938" y="1588"/>
                  <a:pt x="103118" y="2123"/>
                  <a:pt x="71438" y="4763"/>
                </a:cubicBezTo>
                <a:cubicBezTo>
                  <a:pt x="63461" y="5428"/>
                  <a:pt x="46369" y="11531"/>
                  <a:pt x="38100" y="14288"/>
                </a:cubicBezTo>
                <a:cubicBezTo>
                  <a:pt x="34925" y="19050"/>
                  <a:pt x="32239" y="24178"/>
                  <a:pt x="28575" y="28575"/>
                </a:cubicBezTo>
                <a:cubicBezTo>
                  <a:pt x="24263" y="33749"/>
                  <a:pt x="18024" y="37259"/>
                  <a:pt x="14288" y="42863"/>
                </a:cubicBezTo>
                <a:cubicBezTo>
                  <a:pt x="11503" y="47040"/>
                  <a:pt x="11770" y="52660"/>
                  <a:pt x="9525" y="57150"/>
                </a:cubicBezTo>
                <a:cubicBezTo>
                  <a:pt x="6965" y="62270"/>
                  <a:pt x="3175" y="66675"/>
                  <a:pt x="0" y="71438"/>
                </a:cubicBezTo>
                <a:cubicBezTo>
                  <a:pt x="1588" y="100013"/>
                  <a:pt x="-850" y="129100"/>
                  <a:pt x="4763" y="157163"/>
                </a:cubicBezTo>
                <a:cubicBezTo>
                  <a:pt x="5886" y="162776"/>
                  <a:pt x="13931" y="164128"/>
                  <a:pt x="19050" y="166688"/>
                </a:cubicBezTo>
                <a:cubicBezTo>
                  <a:pt x="30771" y="172548"/>
                  <a:pt x="50945" y="174385"/>
                  <a:pt x="61913" y="176213"/>
                </a:cubicBezTo>
                <a:lnTo>
                  <a:pt x="714375" y="171450"/>
                </a:lnTo>
                <a:cubicBezTo>
                  <a:pt x="829269" y="171450"/>
                  <a:pt x="1149025" y="136042"/>
                  <a:pt x="1347788" y="185738"/>
                </a:cubicBezTo>
                <a:cubicBezTo>
                  <a:pt x="1352550" y="188913"/>
                  <a:pt x="1360687" y="189710"/>
                  <a:pt x="1362075" y="195263"/>
                </a:cubicBezTo>
                <a:cubicBezTo>
                  <a:pt x="1366951" y="214767"/>
                  <a:pt x="1366838" y="243130"/>
                  <a:pt x="1366838" y="266700"/>
                </a:cubicBezTo>
              </a:path>
            </a:pathLst>
          </a:custGeom>
          <a:noFill/>
          <a:ln w="31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C225B24-FFD4-421E-9DD5-9AF33B80B612}"/>
              </a:ext>
            </a:extLst>
          </p:cNvPr>
          <p:cNvSpPr txBox="1"/>
          <p:nvPr/>
        </p:nvSpPr>
        <p:spPr>
          <a:xfrm>
            <a:off x="6131147" y="4479953"/>
            <a:ext cx="77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輸入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8984BAA-DC1A-4BED-A1CD-53D39A1D58F9}"/>
              </a:ext>
            </a:extLst>
          </p:cNvPr>
          <p:cNvSpPr txBox="1"/>
          <p:nvPr/>
        </p:nvSpPr>
        <p:spPr>
          <a:xfrm>
            <a:off x="4234084" y="5603132"/>
            <a:ext cx="77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輸出</a:t>
            </a:r>
          </a:p>
        </p:txBody>
      </p:sp>
      <p:sp>
        <p:nvSpPr>
          <p:cNvPr id="27" name="手繪多邊形: 圖案 26">
            <a:extLst>
              <a:ext uri="{FF2B5EF4-FFF2-40B4-BE49-F238E27FC236}">
                <a16:creationId xmlns:a16="http://schemas.microsoft.com/office/drawing/2014/main" id="{FC525E36-F5AC-4196-A619-54178BAC010C}"/>
              </a:ext>
            </a:extLst>
          </p:cNvPr>
          <p:cNvSpPr/>
          <p:nvPr/>
        </p:nvSpPr>
        <p:spPr>
          <a:xfrm>
            <a:off x="4695825" y="4391025"/>
            <a:ext cx="1391614" cy="561975"/>
          </a:xfrm>
          <a:custGeom>
            <a:avLst/>
            <a:gdLst>
              <a:gd name="connsiteX0" fmla="*/ 0 w 1391614"/>
              <a:gd name="connsiteY0" fmla="*/ 180975 h 561975"/>
              <a:gd name="connsiteX1" fmla="*/ 47625 w 1391614"/>
              <a:gd name="connsiteY1" fmla="*/ 104775 h 561975"/>
              <a:gd name="connsiteX2" fmla="*/ 66675 w 1391614"/>
              <a:gd name="connsiteY2" fmla="*/ 76200 h 561975"/>
              <a:gd name="connsiteX3" fmla="*/ 171450 w 1391614"/>
              <a:gd name="connsiteY3" fmla="*/ 47625 h 561975"/>
              <a:gd name="connsiteX4" fmla="*/ 228600 w 1391614"/>
              <a:gd name="connsiteY4" fmla="*/ 28575 h 561975"/>
              <a:gd name="connsiteX5" fmla="*/ 438150 w 1391614"/>
              <a:gd name="connsiteY5" fmla="*/ 9525 h 561975"/>
              <a:gd name="connsiteX6" fmla="*/ 495300 w 1391614"/>
              <a:gd name="connsiteY6" fmla="*/ 0 h 561975"/>
              <a:gd name="connsiteX7" fmla="*/ 704850 w 1391614"/>
              <a:gd name="connsiteY7" fmla="*/ 9525 h 561975"/>
              <a:gd name="connsiteX8" fmla="*/ 752475 w 1391614"/>
              <a:gd name="connsiteY8" fmla="*/ 19050 h 561975"/>
              <a:gd name="connsiteX9" fmla="*/ 857250 w 1391614"/>
              <a:gd name="connsiteY9" fmla="*/ 38100 h 561975"/>
              <a:gd name="connsiteX10" fmla="*/ 923925 w 1391614"/>
              <a:gd name="connsiteY10" fmla="*/ 57150 h 561975"/>
              <a:gd name="connsiteX11" fmla="*/ 1019175 w 1391614"/>
              <a:gd name="connsiteY11" fmla="*/ 85725 h 561975"/>
              <a:gd name="connsiteX12" fmla="*/ 1047750 w 1391614"/>
              <a:gd name="connsiteY12" fmla="*/ 95250 h 561975"/>
              <a:gd name="connsiteX13" fmla="*/ 1104900 w 1391614"/>
              <a:gd name="connsiteY13" fmla="*/ 123825 h 561975"/>
              <a:gd name="connsiteX14" fmla="*/ 1162050 w 1391614"/>
              <a:gd name="connsiteY14" fmla="*/ 161925 h 561975"/>
              <a:gd name="connsiteX15" fmla="*/ 1247775 w 1391614"/>
              <a:gd name="connsiteY15" fmla="*/ 190500 h 561975"/>
              <a:gd name="connsiteX16" fmla="*/ 1276350 w 1391614"/>
              <a:gd name="connsiteY16" fmla="*/ 200025 h 561975"/>
              <a:gd name="connsiteX17" fmla="*/ 1333500 w 1391614"/>
              <a:gd name="connsiteY17" fmla="*/ 238125 h 561975"/>
              <a:gd name="connsiteX18" fmla="*/ 1362075 w 1391614"/>
              <a:gd name="connsiteY18" fmla="*/ 323850 h 561975"/>
              <a:gd name="connsiteX19" fmla="*/ 1371600 w 1391614"/>
              <a:gd name="connsiteY19" fmla="*/ 352425 h 561975"/>
              <a:gd name="connsiteX20" fmla="*/ 1381125 w 1391614"/>
              <a:gd name="connsiteY20" fmla="*/ 381000 h 561975"/>
              <a:gd name="connsiteX21" fmla="*/ 1390650 w 1391614"/>
              <a:gd name="connsiteY21" fmla="*/ 438150 h 561975"/>
              <a:gd name="connsiteX22" fmla="*/ 1390650 w 1391614"/>
              <a:gd name="connsiteY22" fmla="*/ 561975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391614" h="561975">
                <a:moveTo>
                  <a:pt x="0" y="180975"/>
                </a:moveTo>
                <a:cubicBezTo>
                  <a:pt x="31994" y="100991"/>
                  <a:pt x="704" y="161080"/>
                  <a:pt x="47625" y="104775"/>
                </a:cubicBezTo>
                <a:cubicBezTo>
                  <a:pt x="54954" y="95981"/>
                  <a:pt x="56967" y="82267"/>
                  <a:pt x="66675" y="76200"/>
                </a:cubicBezTo>
                <a:cubicBezTo>
                  <a:pt x="96387" y="57630"/>
                  <a:pt x="138638" y="56574"/>
                  <a:pt x="171450" y="47625"/>
                </a:cubicBezTo>
                <a:cubicBezTo>
                  <a:pt x="190823" y="42341"/>
                  <a:pt x="208675" y="31066"/>
                  <a:pt x="228600" y="28575"/>
                </a:cubicBezTo>
                <a:cubicBezTo>
                  <a:pt x="349019" y="13523"/>
                  <a:pt x="279267" y="20874"/>
                  <a:pt x="438150" y="9525"/>
                </a:cubicBezTo>
                <a:cubicBezTo>
                  <a:pt x="457200" y="6350"/>
                  <a:pt x="475987" y="0"/>
                  <a:pt x="495300" y="0"/>
                </a:cubicBezTo>
                <a:cubicBezTo>
                  <a:pt x="565222" y="0"/>
                  <a:pt x="635119" y="4360"/>
                  <a:pt x="704850" y="9525"/>
                </a:cubicBezTo>
                <a:cubicBezTo>
                  <a:pt x="720995" y="10721"/>
                  <a:pt x="736547" y="16154"/>
                  <a:pt x="752475" y="19050"/>
                </a:cubicBezTo>
                <a:cubicBezTo>
                  <a:pt x="809341" y="29389"/>
                  <a:pt x="804312" y="26336"/>
                  <a:pt x="857250" y="38100"/>
                </a:cubicBezTo>
                <a:cubicBezTo>
                  <a:pt x="924248" y="52988"/>
                  <a:pt x="868238" y="41239"/>
                  <a:pt x="923925" y="57150"/>
                </a:cubicBezTo>
                <a:cubicBezTo>
                  <a:pt x="1024692" y="85940"/>
                  <a:pt x="883362" y="40454"/>
                  <a:pt x="1019175" y="85725"/>
                </a:cubicBezTo>
                <a:cubicBezTo>
                  <a:pt x="1028700" y="88900"/>
                  <a:pt x="1039396" y="89681"/>
                  <a:pt x="1047750" y="95250"/>
                </a:cubicBezTo>
                <a:cubicBezTo>
                  <a:pt x="1174605" y="179820"/>
                  <a:pt x="986594" y="58100"/>
                  <a:pt x="1104900" y="123825"/>
                </a:cubicBezTo>
                <a:cubicBezTo>
                  <a:pt x="1124914" y="134944"/>
                  <a:pt x="1140330" y="154685"/>
                  <a:pt x="1162050" y="161925"/>
                </a:cubicBezTo>
                <a:lnTo>
                  <a:pt x="1247775" y="190500"/>
                </a:lnTo>
                <a:cubicBezTo>
                  <a:pt x="1257300" y="193675"/>
                  <a:pt x="1267996" y="194456"/>
                  <a:pt x="1276350" y="200025"/>
                </a:cubicBezTo>
                <a:lnTo>
                  <a:pt x="1333500" y="238125"/>
                </a:lnTo>
                <a:lnTo>
                  <a:pt x="1362075" y="323850"/>
                </a:lnTo>
                <a:lnTo>
                  <a:pt x="1371600" y="352425"/>
                </a:lnTo>
                <a:cubicBezTo>
                  <a:pt x="1374775" y="361950"/>
                  <a:pt x="1379474" y="371096"/>
                  <a:pt x="1381125" y="381000"/>
                </a:cubicBezTo>
                <a:cubicBezTo>
                  <a:pt x="1384300" y="400050"/>
                  <a:pt x="1389635" y="418864"/>
                  <a:pt x="1390650" y="438150"/>
                </a:cubicBezTo>
                <a:cubicBezTo>
                  <a:pt x="1392819" y="479368"/>
                  <a:pt x="1390650" y="520700"/>
                  <a:pt x="1390650" y="561975"/>
                </a:cubicBezTo>
              </a:path>
            </a:pathLst>
          </a:custGeom>
          <a:noFill/>
          <a:ln w="31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6417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5466195-A452-49CC-AFC7-28BEC8434AE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初始化模型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0388B00-4D3C-4C83-AA45-8A87BA30DE6B}"/>
              </a:ext>
            </a:extLst>
          </p:cNvPr>
          <p:cNvSpPr txBox="1"/>
          <p:nvPr/>
        </p:nvSpPr>
        <p:spPr>
          <a:xfrm>
            <a:off x="467578" y="1415182"/>
            <a:ext cx="3518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定義兩種全連接層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5DD6B06-BCA5-47C9-84CA-76797BD1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322" y="2409716"/>
            <a:ext cx="8399356" cy="26956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75C5CE4-09CA-40C1-92BA-B69065E8FD20}"/>
              </a:ext>
            </a:extLst>
          </p:cNvPr>
          <p:cNvSpPr/>
          <p:nvPr/>
        </p:nvSpPr>
        <p:spPr>
          <a:xfrm>
            <a:off x="5705475" y="2895600"/>
            <a:ext cx="485775" cy="371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3B4F1B-3840-4614-A4D8-7416AF285122}"/>
              </a:ext>
            </a:extLst>
          </p:cNvPr>
          <p:cNvSpPr/>
          <p:nvPr/>
        </p:nvSpPr>
        <p:spPr>
          <a:xfrm>
            <a:off x="8086725" y="2895600"/>
            <a:ext cx="285750" cy="371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683CEB-DAD3-44B9-8AFE-AD4EF9CD33B2}"/>
              </a:ext>
            </a:extLst>
          </p:cNvPr>
          <p:cNvSpPr txBox="1"/>
          <p:nvPr/>
        </p:nvSpPr>
        <p:spPr>
          <a:xfrm>
            <a:off x="5564282" y="2467992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0F9EC75-7E5F-4C19-B27F-B0409BC46A82}"/>
              </a:ext>
            </a:extLst>
          </p:cNvPr>
          <p:cNvSpPr txBox="1"/>
          <p:nvPr/>
        </p:nvSpPr>
        <p:spPr>
          <a:xfrm>
            <a:off x="7468315" y="2475374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數字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0~9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8B94E7-AC40-4CA9-B1E3-C4940C0925B9}"/>
              </a:ext>
            </a:extLst>
          </p:cNvPr>
          <p:cNvSpPr/>
          <p:nvPr/>
        </p:nvSpPr>
        <p:spPr>
          <a:xfrm>
            <a:off x="3843338" y="2914650"/>
            <a:ext cx="376237" cy="371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B167D5B-D8A0-4252-85B7-1206B99707E1}"/>
              </a:ext>
            </a:extLst>
          </p:cNvPr>
          <p:cNvSpPr txBox="1"/>
          <p:nvPr/>
        </p:nvSpPr>
        <p:spPr>
          <a:xfrm>
            <a:off x="3428301" y="2343041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Class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的名字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AF95042-3E0F-470B-B37B-A48127C384A0}"/>
              </a:ext>
            </a:extLst>
          </p:cNvPr>
          <p:cNvSpPr txBox="1"/>
          <p:nvPr/>
        </p:nvSpPr>
        <p:spPr>
          <a:xfrm>
            <a:off x="7219251" y="3933716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Loss function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3EFE735-2E87-4CC1-AFFA-6C7ACEA728FA}"/>
              </a:ext>
            </a:extLst>
          </p:cNvPr>
          <p:cNvSpPr txBox="1"/>
          <p:nvPr/>
        </p:nvSpPr>
        <p:spPr>
          <a:xfrm>
            <a:off x="9803756" y="4274473"/>
            <a:ext cx="877163" cy="369332"/>
          </a:xfrm>
          <a:prstGeom prst="rect">
            <a:avLst/>
          </a:prstGeom>
          <a:solidFill>
            <a:srgbClr val="1E1E1E"/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優化器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43F4641-4028-4177-A48D-CD825E22DD28}"/>
              </a:ext>
            </a:extLst>
          </p:cNvPr>
          <p:cNvSpPr txBox="1"/>
          <p:nvPr/>
        </p:nvSpPr>
        <p:spPr>
          <a:xfrm>
            <a:off x="3766172" y="5392058"/>
            <a:ext cx="180049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Loss function:</a:t>
            </a:r>
          </a:p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計算誤差的方法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907C399-CC24-4314-9BA9-BEA3D602B89B}"/>
              </a:ext>
            </a:extLst>
          </p:cNvPr>
          <p:cNvSpPr txBox="1"/>
          <p:nvPr/>
        </p:nvSpPr>
        <p:spPr>
          <a:xfrm>
            <a:off x="6286232" y="5392058"/>
            <a:ext cx="180049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Optimizer:</a:t>
            </a:r>
          </a:p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更新參數的方法</a:t>
            </a:r>
          </a:p>
        </p:txBody>
      </p:sp>
    </p:spTree>
    <p:extLst>
      <p:ext uri="{BB962C8B-B14F-4D97-AF65-F5344CB8AC3E}">
        <p14:creationId xmlns:p14="http://schemas.microsoft.com/office/powerpoint/2010/main" val="2846751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D98B525-5022-4C88-A1DB-7C3FF158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2" y="1505566"/>
            <a:ext cx="6895796" cy="489523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338A37C-FDC4-4EB2-9D39-9057F6201CF3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開始訓練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09C6B14-2476-4896-9A1B-D9A519FCD73A}"/>
              </a:ext>
            </a:extLst>
          </p:cNvPr>
          <p:cNvSpPr txBox="1"/>
          <p:nvPr/>
        </p:nvSpPr>
        <p:spPr>
          <a:xfrm>
            <a:off x="4321386" y="2541757"/>
            <a:ext cx="3159839" cy="369332"/>
          </a:xfrm>
          <a:prstGeom prst="rect">
            <a:avLst/>
          </a:prstGeom>
          <a:solidFill>
            <a:srgbClr val="1E1E1E"/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把資料變成</a:t>
            </a:r>
            <a:r>
              <a:rPr lang="en-US" altLang="zh-TW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可以跑的形式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74475F-5567-49C1-8E5C-3A0BBDB06EE4}"/>
              </a:ext>
            </a:extLst>
          </p:cNvPr>
          <p:cNvSpPr/>
          <p:nvPr/>
        </p:nvSpPr>
        <p:spPr>
          <a:xfrm>
            <a:off x="7624048" y="1505565"/>
            <a:ext cx="3915053" cy="4895233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9538757-31C8-4FD8-AA3B-40CBCEDE8F21}"/>
              </a:ext>
            </a:extLst>
          </p:cNvPr>
          <p:cNvSpPr txBox="1"/>
          <p:nvPr/>
        </p:nvSpPr>
        <p:spPr>
          <a:xfrm>
            <a:off x="5285753" y="3399751"/>
            <a:ext cx="1915909" cy="369332"/>
          </a:xfrm>
          <a:prstGeom prst="rect">
            <a:avLst/>
          </a:prstGeom>
          <a:solidFill>
            <a:srgbClr val="1E1E1E"/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攤平</a:t>
            </a:r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→ </a:t>
            </a:r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784</a:t>
            </a:r>
            <a:endParaRPr lang="zh-TW" altLang="en-US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F84033E-EAEC-425A-84D7-27FEED1E62BD}"/>
              </a:ext>
            </a:extLst>
          </p:cNvPr>
          <p:cNvSpPr txBox="1"/>
          <p:nvPr/>
        </p:nvSpPr>
        <p:spPr>
          <a:xfrm>
            <a:off x="3539391" y="4087241"/>
            <a:ext cx="3417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把資料丟進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 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輸出各種類的機率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A295A97-F03C-47AB-8405-06ADE02096A0}"/>
              </a:ext>
            </a:extLst>
          </p:cNvPr>
          <p:cNvSpPr txBox="1"/>
          <p:nvPr/>
        </p:nvSpPr>
        <p:spPr>
          <a:xfrm>
            <a:off x="4863366" y="4377076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計算輸出與真實答案的誤差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B905E71-E4A8-470C-A82E-716DB5583442}"/>
              </a:ext>
            </a:extLst>
          </p:cNvPr>
          <p:cNvSpPr txBox="1"/>
          <p:nvPr/>
        </p:nvSpPr>
        <p:spPr>
          <a:xfrm>
            <a:off x="3449121" y="5050383"/>
            <a:ext cx="3012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清除上一次要優化的各參數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grad</a:t>
            </a:r>
            <a:endParaRPr lang="zh-TW" altLang="en-US" sz="1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A0FE80C-88DD-4E21-857F-DCB3579D39D0}"/>
              </a:ext>
            </a:extLst>
          </p:cNvPr>
          <p:cNvSpPr txBox="1"/>
          <p:nvPr/>
        </p:nvSpPr>
        <p:spPr>
          <a:xfrm>
            <a:off x="2888943" y="5292802"/>
            <a:ext cx="3012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計算這一次要優化的各參數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grad</a:t>
            </a:r>
            <a:endParaRPr lang="zh-TW" altLang="en-US" sz="1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4D1C9DF-6145-44CE-BC21-F0EE7F637ACE}"/>
              </a:ext>
            </a:extLst>
          </p:cNvPr>
          <p:cNvSpPr txBox="1"/>
          <p:nvPr/>
        </p:nvSpPr>
        <p:spPr>
          <a:xfrm>
            <a:off x="3009898" y="6003587"/>
            <a:ext cx="157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grad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更新參數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4B9E673-1B11-4618-A556-6ECF63617736}"/>
              </a:ext>
            </a:extLst>
          </p:cNvPr>
          <p:cNvSpPr txBox="1"/>
          <p:nvPr/>
        </p:nvSpPr>
        <p:spPr>
          <a:xfrm>
            <a:off x="3139817" y="1721632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整個程序訓練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B5A1E5A-F5D7-4B59-BE74-43FFD254FAB1}"/>
              </a:ext>
            </a:extLst>
          </p:cNvPr>
          <p:cNvSpPr txBox="1"/>
          <p:nvPr/>
        </p:nvSpPr>
        <p:spPr>
          <a:xfrm>
            <a:off x="7429007" y="2015733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每次都是一個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進去訓練</a:t>
            </a:r>
          </a:p>
        </p:txBody>
      </p:sp>
    </p:spTree>
    <p:extLst>
      <p:ext uri="{BB962C8B-B14F-4D97-AF65-F5344CB8AC3E}">
        <p14:creationId xmlns:p14="http://schemas.microsoft.com/office/powerpoint/2010/main" val="3810510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338A37C-FDC4-4EB2-9D39-9057F6201CF3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全連接模型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驗證模型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385863-8187-4C34-9096-46085D8A21F3}"/>
              </a:ext>
            </a:extLst>
          </p:cNvPr>
          <p:cNvSpPr/>
          <p:nvPr/>
        </p:nvSpPr>
        <p:spPr>
          <a:xfrm>
            <a:off x="5962650" y="1153141"/>
            <a:ext cx="5162550" cy="4860653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7CB6B5F-6684-4A96-A11B-320B8F63A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2" y="1153140"/>
            <a:ext cx="4730748" cy="4860654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C09532F0-F18D-49AD-84CC-B9E12AF839F4}"/>
              </a:ext>
            </a:extLst>
          </p:cNvPr>
          <p:cNvSpPr txBox="1"/>
          <p:nvPr/>
        </p:nvSpPr>
        <p:spPr>
          <a:xfrm>
            <a:off x="2400298" y="1115039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模型改成驗證型態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A408037-B24B-4E6F-B861-7C01DB514FAF}"/>
              </a:ext>
            </a:extLst>
          </p:cNvPr>
          <p:cNvSpPr txBox="1"/>
          <p:nvPr/>
        </p:nvSpPr>
        <p:spPr>
          <a:xfrm>
            <a:off x="3268403" y="2015881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確保梯度不會變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3AF6FBA-5B6E-4A04-95FA-69FBEB74DF5D}"/>
              </a:ext>
            </a:extLst>
          </p:cNvPr>
          <p:cNvSpPr txBox="1"/>
          <p:nvPr/>
        </p:nvSpPr>
        <p:spPr>
          <a:xfrm>
            <a:off x="4875095" y="336656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攤平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D2CABFA-3EF3-48D0-A030-9B616D995C03}"/>
              </a:ext>
            </a:extLst>
          </p:cNvPr>
          <p:cNvSpPr txBox="1"/>
          <p:nvPr/>
        </p:nvSpPr>
        <p:spPr>
          <a:xfrm>
            <a:off x="3781363" y="281194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改資料型態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B15D3C2-3973-4AC6-B1E6-84A47CA7AB43}"/>
              </a:ext>
            </a:extLst>
          </p:cNvPr>
          <p:cNvSpPr txBox="1"/>
          <p:nvPr/>
        </p:nvSpPr>
        <p:spPr>
          <a:xfrm>
            <a:off x="4913142" y="405526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取最高機率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A08DB85-E5F1-420D-80E8-A31804B72A3A}"/>
              </a:ext>
            </a:extLst>
          </p:cNvPr>
          <p:cNvSpPr txBox="1"/>
          <p:nvPr/>
        </p:nvSpPr>
        <p:spPr>
          <a:xfrm>
            <a:off x="5801570" y="4508017"/>
            <a:ext cx="23647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如果預測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答案，就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+1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5410CF72-A3E6-4282-A9C6-6BAEAD6AF0F2}"/>
              </a:ext>
            </a:extLst>
          </p:cNvPr>
          <p:cNvSpPr txBox="1"/>
          <p:nvPr/>
        </p:nvSpPr>
        <p:spPr>
          <a:xfrm>
            <a:off x="5172612" y="4768349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計算每個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裡有幾筆資料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36B42F8-81DC-48DC-B680-83E2316AC291}"/>
              </a:ext>
            </a:extLst>
          </p:cNvPr>
          <p:cNvSpPr txBox="1"/>
          <p:nvPr/>
        </p:nvSpPr>
        <p:spPr>
          <a:xfrm>
            <a:off x="3953412" y="5204175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計算全部準確率多少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5E2289B-82BB-4B66-BB46-292F4ED2EA54}"/>
              </a:ext>
            </a:extLst>
          </p:cNvPr>
          <p:cNvSpPr txBox="1"/>
          <p:nvPr/>
        </p:nvSpPr>
        <p:spPr>
          <a:xfrm>
            <a:off x="1739075" y="6111861"/>
            <a:ext cx="1858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95.89%!!!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893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875A78B-3A3D-4EE0-B550-86FD17F3F416}"/>
              </a:ext>
            </a:extLst>
          </p:cNvPr>
          <p:cNvSpPr txBox="1"/>
          <p:nvPr/>
        </p:nvSpPr>
        <p:spPr>
          <a:xfrm>
            <a:off x="0" y="22860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</a:t>
            </a:r>
            <a:endParaRPr lang="zh-TW" altLang="en-US" sz="5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87CD02-17E8-4A36-8C8C-ADB639963FA5}"/>
              </a:ext>
            </a:extLst>
          </p:cNvPr>
          <p:cNvSpPr txBox="1"/>
          <p:nvPr/>
        </p:nvSpPr>
        <p:spPr>
          <a:xfrm>
            <a:off x="735806" y="1393537"/>
            <a:ext cx="10210801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altLang="zh-CN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EX2 </a:t>
            </a:r>
            <a:r>
              <a:rPr lang="zh-CN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調整訓練次數，讓訓練效果提升（</a:t>
            </a:r>
            <a:r>
              <a:rPr lang="en-MY" altLang="zh-CN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&gt;0.9589</a:t>
            </a:r>
            <a:r>
              <a:rPr lang="zh-CN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MY" altLang="zh-CN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截圖上傳</a:t>
            </a:r>
            <a:r>
              <a:rPr lang="en-US" altLang="zh-CN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</a:t>
            </a:r>
            <a:r>
              <a:rPr lang="zh-CN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lang="zh-CN" altLang="en-US" sz="3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→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BD236-D15F-A75A-E939-FBE44D0C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209" y="2153174"/>
            <a:ext cx="3958663" cy="43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42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C21B1D2-2962-42B5-9F5E-CAFC3D283301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參考資料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6362AF-A851-40B5-BD1F-1784500B1DC0}"/>
              </a:ext>
            </a:extLst>
          </p:cNvPr>
          <p:cNvSpPr txBox="1"/>
          <p:nvPr/>
        </p:nvSpPr>
        <p:spPr>
          <a:xfrm>
            <a:off x="535866" y="2545227"/>
            <a:ext cx="5801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example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https://www.youtube.com/watch?v=Jy4wM2X21u0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C650C95-15BB-49B1-A724-7D2EA742DECB}"/>
              </a:ext>
            </a:extLst>
          </p:cNvPr>
          <p:cNvSpPr txBox="1"/>
          <p:nvPr/>
        </p:nvSpPr>
        <p:spPr>
          <a:xfrm>
            <a:off x="535866" y="1435776"/>
            <a:ext cx="659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機器學習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 NOTE]SGD, Momentum,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AdaGrad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Adam Optimizer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https://reurl.cc/rLdor4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8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2470</TotalTime>
  <Words>945</Words>
  <Application>Microsoft Office PowerPoint</Application>
  <PresentationFormat>Widescreen</PresentationFormat>
  <Paragraphs>108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nlnlOuO</dc:creator>
  <cp:lastModifiedBy>林先彥</cp:lastModifiedBy>
  <cp:revision>180</cp:revision>
  <dcterms:created xsi:type="dcterms:W3CDTF">2023-02-08T05:55:01Z</dcterms:created>
  <dcterms:modified xsi:type="dcterms:W3CDTF">2025-02-26T15:08:51Z</dcterms:modified>
</cp:coreProperties>
</file>